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70"/>
  </p:notesMasterIdLst>
  <p:handoutMasterIdLst>
    <p:handoutMasterId r:id="rId71"/>
  </p:handoutMasterIdLst>
  <p:sldIdLst>
    <p:sldId id="2147482125" r:id="rId6"/>
    <p:sldId id="2147482173" r:id="rId7"/>
    <p:sldId id="2147482112" r:id="rId8"/>
    <p:sldId id="2147482102" r:id="rId9"/>
    <p:sldId id="2147482258" r:id="rId10"/>
    <p:sldId id="2147482259" r:id="rId11"/>
    <p:sldId id="2147482113" r:id="rId12"/>
    <p:sldId id="2147482203" r:id="rId13"/>
    <p:sldId id="2147482175" r:id="rId14"/>
    <p:sldId id="2147482181" r:id="rId15"/>
    <p:sldId id="2147482182" r:id="rId16"/>
    <p:sldId id="2147482183" r:id="rId17"/>
    <p:sldId id="2147482227" r:id="rId18"/>
    <p:sldId id="2147482166" r:id="rId19"/>
    <p:sldId id="2147482198" r:id="rId20"/>
    <p:sldId id="2147482176" r:id="rId21"/>
    <p:sldId id="2147482208" r:id="rId22"/>
    <p:sldId id="2147482256" r:id="rId23"/>
    <p:sldId id="2147482209" r:id="rId24"/>
    <p:sldId id="2147482218" r:id="rId25"/>
    <p:sldId id="2147482211" r:id="rId26"/>
    <p:sldId id="2147482210" r:id="rId27"/>
    <p:sldId id="2147482212" r:id="rId28"/>
    <p:sldId id="2147482216" r:id="rId29"/>
    <p:sldId id="2147482213" r:id="rId30"/>
    <p:sldId id="2147482214" r:id="rId31"/>
    <p:sldId id="2147482215" r:id="rId32"/>
    <p:sldId id="2147482246" r:id="rId33"/>
    <p:sldId id="2147482177" r:id="rId34"/>
    <p:sldId id="2147482220" r:id="rId35"/>
    <p:sldId id="2147482221" r:id="rId36"/>
    <p:sldId id="2147482223" r:id="rId37"/>
    <p:sldId id="2147482222" r:id="rId38"/>
    <p:sldId id="2147482225" r:id="rId39"/>
    <p:sldId id="2147482233" r:id="rId40"/>
    <p:sldId id="2147482234" r:id="rId41"/>
    <p:sldId id="2147482100" r:id="rId42"/>
    <p:sldId id="2147482162" r:id="rId43"/>
    <p:sldId id="2147482242" r:id="rId44"/>
    <p:sldId id="2147482244" r:id="rId45"/>
    <p:sldId id="2147482165" r:id="rId46"/>
    <p:sldId id="2147482245" r:id="rId47"/>
    <p:sldId id="2147482160" r:id="rId48"/>
    <p:sldId id="2147482163" r:id="rId49"/>
    <p:sldId id="2147482255" r:id="rId50"/>
    <p:sldId id="2147482247" r:id="rId51"/>
    <p:sldId id="2147482241" r:id="rId52"/>
    <p:sldId id="2147482248" r:id="rId53"/>
    <p:sldId id="2147482178" r:id="rId54"/>
    <p:sldId id="2147482231" r:id="rId55"/>
    <p:sldId id="2147482232" r:id="rId56"/>
    <p:sldId id="2147482235" r:id="rId57"/>
    <p:sldId id="2147482170" r:id="rId58"/>
    <p:sldId id="2147482250" r:id="rId59"/>
    <p:sldId id="2147482236" r:id="rId60"/>
    <p:sldId id="2147482260" r:id="rId61"/>
    <p:sldId id="2147482252" r:id="rId62"/>
    <p:sldId id="2147482171" r:id="rId63"/>
    <p:sldId id="2147482253" r:id="rId64"/>
    <p:sldId id="2147482254" r:id="rId65"/>
    <p:sldId id="2147482238" r:id="rId66"/>
    <p:sldId id="2147482249" r:id="rId67"/>
    <p:sldId id="2147482257" r:id="rId68"/>
    <p:sldId id="2147482180" r:id="rId69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73"/>
            <p14:sldId id="2147482112"/>
            <p14:sldId id="2147482102"/>
            <p14:sldId id="2147482258"/>
            <p14:sldId id="2147482259"/>
            <p14:sldId id="2147482113"/>
            <p14:sldId id="2147482203"/>
            <p14:sldId id="2147482175"/>
            <p14:sldId id="2147482181"/>
            <p14:sldId id="2147482182"/>
            <p14:sldId id="2147482183"/>
            <p14:sldId id="2147482227"/>
            <p14:sldId id="2147482166"/>
            <p14:sldId id="2147482198"/>
            <p14:sldId id="2147482176"/>
            <p14:sldId id="2147482208"/>
            <p14:sldId id="2147482256"/>
            <p14:sldId id="2147482209"/>
            <p14:sldId id="2147482218"/>
            <p14:sldId id="2147482211"/>
            <p14:sldId id="2147482210"/>
            <p14:sldId id="2147482212"/>
            <p14:sldId id="2147482216"/>
            <p14:sldId id="2147482213"/>
            <p14:sldId id="2147482214"/>
            <p14:sldId id="2147482215"/>
            <p14:sldId id="2147482246"/>
            <p14:sldId id="2147482177"/>
            <p14:sldId id="2147482220"/>
            <p14:sldId id="2147482221"/>
            <p14:sldId id="2147482223"/>
            <p14:sldId id="2147482222"/>
            <p14:sldId id="2147482225"/>
            <p14:sldId id="2147482233"/>
            <p14:sldId id="2147482234"/>
            <p14:sldId id="2147482100"/>
            <p14:sldId id="2147482162"/>
            <p14:sldId id="2147482242"/>
            <p14:sldId id="2147482244"/>
            <p14:sldId id="2147482165"/>
            <p14:sldId id="2147482245"/>
            <p14:sldId id="2147482160"/>
            <p14:sldId id="2147482163"/>
            <p14:sldId id="2147482255"/>
            <p14:sldId id="2147482247"/>
            <p14:sldId id="2147482241"/>
            <p14:sldId id="2147482248"/>
            <p14:sldId id="2147482178"/>
            <p14:sldId id="2147482231"/>
            <p14:sldId id="2147482232"/>
            <p14:sldId id="2147482235"/>
            <p14:sldId id="2147482170"/>
            <p14:sldId id="2147482250"/>
            <p14:sldId id="2147482236"/>
            <p14:sldId id="2147482260"/>
            <p14:sldId id="2147482252"/>
            <p14:sldId id="2147482171"/>
            <p14:sldId id="2147482253"/>
            <p14:sldId id="2147482254"/>
            <p14:sldId id="2147482238"/>
            <p14:sldId id="2147482249"/>
            <p14:sldId id="2147482257"/>
            <p14:sldId id="21474821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884" autoAdjust="0"/>
  </p:normalViewPr>
  <p:slideViewPr>
    <p:cSldViewPr snapToGrid="0">
      <p:cViewPr varScale="1">
        <p:scale>
          <a:sx n="93" d="100"/>
          <a:sy n="93" d="100"/>
        </p:scale>
        <p:origin x="5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85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microsoft.com/office/2018/10/relationships/authors" Target="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3/26/2026 12:14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7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82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3A97-756E-8CE6-7CC3-558F907C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0B6F-3EA5-F0B3-792E-A20F3C94C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DF046-2485-8CA6-0A13-C324F3FD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8AE7F68-E311-C92E-AF19-D93E3FAE17C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B35B-E67C-C2EE-3F85-FF50EE87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5103B-302B-18E8-24FA-CE046F16D3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15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31D8-92AF-7678-0171-D7F1F52A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64EC2-676B-7B6F-692E-1A5528163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54272-156F-1177-CD5F-109BAD45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80F99B8-8826-639E-36A5-0F635FA0E68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6573C-1ABB-7261-ED97-AB60C233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3B2DB-13AD-9062-CDFD-A25628A271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22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F2B28-002C-4794-238E-0B8E8A4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DD5F9-AB0C-5AD9-9988-517DD488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DD22C-A27E-89AD-3827-E39B15A45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C36EAC-F4D1-5FE0-6C3A-1B37EE501B8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16C97-3088-9291-909C-4B8C09AC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B768-D466-8784-4AAE-F12975562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50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2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07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3288-28E9-3639-46FE-17D6B6CE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9FCC8-872A-AA38-E486-9EA64C6E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E04BE-F8C7-DC79-D6C0-74F181747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B0B14A-A5F4-36CE-82F1-0B6FA4E8EF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B77B4-F897-03B1-9500-DFEA50CF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A53E-54C8-7513-B867-4D9BA58A19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9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Microsoft 365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Microsoft 365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6BB3-8A7F-81DF-3556-2C8A6106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08" y="372395"/>
            <a:ext cx="10726460" cy="3877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CD59-4094-DDC2-A708-2B684F37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008" y="1861969"/>
            <a:ext cx="10726460" cy="14157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887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  <p:sldLayoutId id="2147484582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FabricDevCamp/fabric-terraform-demo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github.com/orgs/Fabric-CICD-Workflows/repositories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Introduction to Fabric CI/CD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35F8-4FF1-BDF0-65EA-C0B51F9B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Session Agenda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433B-E7B7-B735-B46D-541E03125E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873544"/>
          </a:xfrm>
        </p:spPr>
        <p:txBody>
          <a:bodyPr/>
          <a:lstStyle/>
          <a:p>
            <a:r>
              <a:rPr lang="en-US" dirty="0"/>
              <a:t>Essential Concepts and Capabilities</a:t>
            </a:r>
          </a:p>
          <a:p>
            <a:r>
              <a:rPr lang="en-US" dirty="0"/>
              <a:t>Planning the Fabric CI/CD Project Lifecycle</a:t>
            </a:r>
          </a:p>
          <a:p>
            <a:r>
              <a:rPr lang="en-US" dirty="0"/>
              <a:t>Creating Project Infrastructure using Terraform</a:t>
            </a:r>
          </a:p>
          <a:p>
            <a:r>
              <a:rPr lang="en-US" dirty="0"/>
              <a:t>Building a Development Process</a:t>
            </a:r>
          </a:p>
          <a:p>
            <a:r>
              <a:rPr lang="en-US" dirty="0"/>
              <a:t>Building a Release Process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996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DE1A3F-F67F-D084-B7C7-58D1B87C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CI/CD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357B7-A4D8-C8ED-CF23-3E7BFBD07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154984"/>
          </a:xfrm>
        </p:spPr>
        <p:txBody>
          <a:bodyPr/>
          <a:lstStyle/>
          <a:p>
            <a:r>
              <a:rPr lang="en-US" dirty="0"/>
              <a:t>What is CI/CD?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Continuous Integration (CI)</a:t>
            </a:r>
            <a:r>
              <a:rPr lang="en-US" sz="1800" dirty="0">
                <a:solidFill>
                  <a:srgbClr val="8A0000"/>
                </a:solidFill>
              </a:rPr>
              <a:t> </a:t>
            </a:r>
            <a:r>
              <a:rPr lang="en-US" dirty="0"/>
              <a:t>is practice of frequently merging code changes to shared repository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Continuous Deployment (CD)</a:t>
            </a:r>
            <a:r>
              <a:rPr lang="en-US" dirty="0"/>
              <a:t> is practice of automating deployment to target environments</a:t>
            </a:r>
          </a:p>
          <a:p>
            <a:pPr>
              <a:lnSpc>
                <a:spcPct val="150000"/>
              </a:lnSpc>
            </a:pPr>
            <a:r>
              <a:rPr lang="en-US" dirty="0"/>
              <a:t>CI provides </a:t>
            </a:r>
            <a:r>
              <a:rPr lang="en-US" sz="2000" b="1" dirty="0">
                <a:solidFill>
                  <a:srgbClr val="8A0000"/>
                </a:solidFill>
              </a:rPr>
              <a:t>development process</a:t>
            </a:r>
            <a:r>
              <a:rPr lang="en-US" dirty="0"/>
              <a:t> where multiple folks work on same codebase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344488" lvl="1" indent="0">
              <a:lnSpc>
                <a:spcPct val="150000"/>
              </a:lnSpc>
            </a:pPr>
            <a:endParaRPr lang="en-US" dirty="0"/>
          </a:p>
          <a:p>
            <a:r>
              <a:rPr lang="en-US" dirty="0"/>
              <a:t>CD provides </a:t>
            </a:r>
            <a:r>
              <a:rPr lang="en-US" sz="2200" b="1" dirty="0">
                <a:solidFill>
                  <a:srgbClr val="8A0000"/>
                </a:solidFill>
              </a:rPr>
              <a:t>release process</a:t>
            </a:r>
            <a:r>
              <a:rPr lang="en-US" dirty="0"/>
              <a:t> to move changes through a set of environments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E88F9C-3DE2-ACC4-42CA-8EAFD904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37" y="3044092"/>
            <a:ext cx="3810387" cy="1603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58DB2-55EB-FEF3-AE2C-1F8A651B9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37" y="5425825"/>
            <a:ext cx="4653757" cy="14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" y="4098980"/>
            <a:ext cx="4261130" cy="2615593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A23D7-5E39-19A6-68E7-1504ABA9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Fabric Solution - Product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6B1F1-AF7F-A28B-42C2-4F972FF90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744341"/>
          </a:xfrm>
        </p:spPr>
        <p:txBody>
          <a:bodyPr/>
          <a:lstStyle/>
          <a:p>
            <a:r>
              <a:rPr lang="en-US" dirty="0"/>
              <a:t>Workspace items are building blocks used to build Fabric solution</a:t>
            </a:r>
          </a:p>
          <a:p>
            <a:pPr lvl="1"/>
            <a:r>
              <a:rPr lang="en-US" dirty="0"/>
              <a:t>Example of a simple Fabric solution</a:t>
            </a:r>
          </a:p>
          <a:p>
            <a:pPr lvl="1"/>
            <a:endParaRPr lang="en-US" dirty="0"/>
          </a:p>
          <a:p>
            <a:pPr marL="234950" lvl="2" indent="0"/>
            <a:endParaRPr lang="en-US" dirty="0"/>
          </a:p>
          <a:p>
            <a:pPr marL="234950" lvl="2" indent="0"/>
            <a:endParaRPr lang="en-US" dirty="0"/>
          </a:p>
          <a:p>
            <a:r>
              <a:rPr lang="en-US" dirty="0"/>
              <a:t>Some Fabric solutions can be deployed to a single workspace</a:t>
            </a:r>
          </a:p>
          <a:p>
            <a:pPr lvl="1"/>
            <a:r>
              <a:rPr lang="en-US" dirty="0"/>
              <a:t>More complex Fabric solutions can be spread across multiple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0CE5-6694-00D2-A917-426082562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54" y="1953300"/>
            <a:ext cx="3149381" cy="113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41" y="3041369"/>
            <a:ext cx="5712814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810" y="3041369"/>
            <a:ext cx="3774560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300338-5CC0-4AEA-A0D5-C067D87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GIT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81C8B-17AA-1218-2D28-632BF8CF9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661993"/>
          </a:xfrm>
        </p:spPr>
        <p:txBody>
          <a:bodyPr/>
          <a:lstStyle/>
          <a:p>
            <a:r>
              <a:rPr lang="en-US" dirty="0"/>
              <a:t>Fabric supported GIT providers Azure DevOps, GitHub and GitHub Enterprise</a:t>
            </a:r>
          </a:p>
          <a:p>
            <a:pPr lvl="1"/>
            <a:r>
              <a:rPr lang="en-US" dirty="0"/>
              <a:t>Other GIT provides will be added over time</a:t>
            </a:r>
          </a:p>
          <a:p>
            <a:r>
              <a:rPr lang="en-US" dirty="0"/>
              <a:t>Fabric GIT integration enabled at workspace scope</a:t>
            </a:r>
          </a:p>
          <a:p>
            <a:pPr lvl="1"/>
            <a:r>
              <a:rPr lang="en-US" dirty="0"/>
              <a:t>Workspace is connected to branch in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4F66-377A-812B-2F91-D2FF859E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Source Control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6ED8-BA77-C291-E87A-F47A6B9DF8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878259"/>
          </a:xfrm>
        </p:spPr>
        <p:txBody>
          <a:bodyPr/>
          <a:lstStyle/>
          <a:p>
            <a:r>
              <a:rPr lang="en-US" dirty="0"/>
              <a:t>Fabric provides GIT source control connectors for creating GIT connections</a:t>
            </a:r>
          </a:p>
          <a:p>
            <a:pPr lvl="1"/>
            <a:r>
              <a:rPr lang="en-US" dirty="0"/>
              <a:t>Azure Dev Ops source control connection can be created using service principal credentials</a:t>
            </a:r>
          </a:p>
          <a:p>
            <a:pPr lvl="1"/>
            <a:r>
              <a:rPr lang="en-US" dirty="0"/>
              <a:t>GitHub source control connection must be configured using a personal access token (PAT)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Source control connection has path to repository - not to a specific branch</a:t>
            </a:r>
          </a:p>
          <a:p>
            <a:pPr lvl="1"/>
            <a:r>
              <a:rPr lang="en-US" dirty="0"/>
              <a:t>You can reuse single source control connection to connect N branches to N workspaces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8A40C-A010-A449-4B19-18C8974E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9" y="2456826"/>
            <a:ext cx="8049333" cy="25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561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8178C7A-F1E7-F1FA-AF6D-E2FEADA38710}"/>
              </a:ext>
            </a:extLst>
          </p:cNvPr>
          <p:cNvGrpSpPr/>
          <p:nvPr/>
        </p:nvGrpSpPr>
        <p:grpSpPr>
          <a:xfrm>
            <a:off x="1107423" y="4686992"/>
            <a:ext cx="8916148" cy="2089108"/>
            <a:chOff x="1057295" y="4735057"/>
            <a:chExt cx="8916148" cy="2089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64FE73-F0FB-234D-F8F0-6B8BFC9E771C}"/>
                </a:ext>
              </a:extLst>
            </p:cNvPr>
            <p:cNvSpPr/>
            <p:nvPr/>
          </p:nvSpPr>
          <p:spPr bwMode="auto">
            <a:xfrm>
              <a:off x="1057295" y="4735057"/>
              <a:ext cx="8916148" cy="20891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4C219E-894C-12B9-39AA-4131FB442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2246" y="4805285"/>
              <a:ext cx="3732230" cy="1907425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A3DD93-B8FF-01D4-449E-E04293601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When you connect workspace to GIT branch…</a:t>
            </a:r>
          </a:p>
          <a:p>
            <a:pPr lvl="1"/>
            <a:r>
              <a:rPr lang="en-US" dirty="0"/>
              <a:t>Fabric GIT integration serializes workspace item definitions and writes definition files to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Fabric GIT integration can create/update workspace items from item definitions in GIT branch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1107423" y="2059473"/>
            <a:ext cx="8995035" cy="2125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906" y="2161565"/>
            <a:ext cx="3416365" cy="19212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D9F9A4B-15B4-02CF-39B5-ED8FD8B2686A}"/>
              </a:ext>
            </a:extLst>
          </p:cNvPr>
          <p:cNvGrpSpPr/>
          <p:nvPr/>
        </p:nvGrpSpPr>
        <p:grpSpPr>
          <a:xfrm>
            <a:off x="4739116" y="2161564"/>
            <a:ext cx="5219212" cy="1921221"/>
            <a:chOff x="4739116" y="2161564"/>
            <a:chExt cx="5219212" cy="192122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C52C1-218D-5D86-DAC7-49730A9AD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2203" y="2161564"/>
              <a:ext cx="3966125" cy="1921221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2CDF10-60ED-AC54-F0AD-23E1E950168E}"/>
                </a:ext>
              </a:extLst>
            </p:cNvPr>
            <p:cNvSpPr/>
            <p:nvPr/>
          </p:nvSpPr>
          <p:spPr bwMode="auto">
            <a:xfrm>
              <a:off x="4739116" y="2953580"/>
              <a:ext cx="1257698" cy="565077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E9DA04F-9AD8-B12B-B811-A63CE05A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of Workspace Items to/from Item Definitions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C4024A-D655-734D-DF8E-87276DD723A4}"/>
              </a:ext>
            </a:extLst>
          </p:cNvPr>
          <p:cNvGrpSpPr/>
          <p:nvPr/>
        </p:nvGrpSpPr>
        <p:grpSpPr>
          <a:xfrm>
            <a:off x="1253499" y="4795760"/>
            <a:ext cx="4799908" cy="1907425"/>
            <a:chOff x="1129674" y="4805285"/>
            <a:chExt cx="4799908" cy="19074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D91303-E72C-A09A-BF52-2C3552C25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9674" y="4805285"/>
              <a:ext cx="3427161" cy="1907425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F4E473B-6699-334C-D6C5-DDF83D8656D1}"/>
                </a:ext>
              </a:extLst>
            </p:cNvPr>
            <p:cNvSpPr/>
            <p:nvPr/>
          </p:nvSpPr>
          <p:spPr bwMode="auto">
            <a:xfrm flipH="1">
              <a:off x="4555255" y="5696165"/>
              <a:ext cx="1374327" cy="577817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3618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42D-C067-CD5B-36EA-1D7E840D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Fabric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53ADE-335A-DD73-390A-A85F529EF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687915"/>
          </a:xfrm>
        </p:spPr>
        <p:txBody>
          <a:bodyPr/>
          <a:lstStyle/>
          <a:p>
            <a:r>
              <a:rPr lang="en-US" dirty="0"/>
              <a:t>Tools and libraries to simplify interacting with the Fabric REST APIs 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Terraform</a:t>
            </a:r>
            <a:r>
              <a:rPr lang="en-US" dirty="0"/>
              <a:t> - IoC tool used to create project infrastructure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Fabric CLI</a:t>
            </a:r>
            <a:r>
              <a:rPr lang="en-US" dirty="0"/>
              <a:t> - scripting and interactive tool that promotes ease-of-use experience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.NET SDK</a:t>
            </a:r>
            <a:r>
              <a:rPr lang="en-US" dirty="0"/>
              <a:t> - productivity layer on Fabric REST APIs for C# developers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Python SDK</a:t>
            </a:r>
            <a:r>
              <a:rPr lang="en-US" dirty="0"/>
              <a:t> - productivity layer on Fabric REST APIs for Python developers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- Python library used to build release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BC183-53C0-8F1D-1222-0094DC5F375A}"/>
              </a:ext>
            </a:extLst>
          </p:cNvPr>
          <p:cNvSpPr/>
          <p:nvPr/>
        </p:nvSpPr>
        <p:spPr bwMode="auto">
          <a:xfrm>
            <a:off x="1228343" y="5275638"/>
            <a:ext cx="9735671" cy="69924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B5349-9CA1-87D0-D264-364F483A0088}"/>
              </a:ext>
            </a:extLst>
          </p:cNvPr>
          <p:cNvSpPr/>
          <p:nvPr/>
        </p:nvSpPr>
        <p:spPr bwMode="auto">
          <a:xfrm>
            <a:off x="12283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A4F93-0908-6CC2-09A9-F9CC0F60317A}"/>
              </a:ext>
            </a:extLst>
          </p:cNvPr>
          <p:cNvSpPr/>
          <p:nvPr/>
        </p:nvSpPr>
        <p:spPr bwMode="auto">
          <a:xfrm>
            <a:off x="32095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CLI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B02E4-F3D7-9E6A-35B9-4507F6F38361}"/>
              </a:ext>
            </a:extLst>
          </p:cNvPr>
          <p:cNvSpPr/>
          <p:nvPr/>
        </p:nvSpPr>
        <p:spPr bwMode="auto">
          <a:xfrm>
            <a:off x="9153143" y="436913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48527-BE1A-8D86-BCE5-30AF5ECB22C3}"/>
              </a:ext>
            </a:extLst>
          </p:cNvPr>
          <p:cNvSpPr/>
          <p:nvPr/>
        </p:nvSpPr>
        <p:spPr bwMode="auto">
          <a:xfrm>
            <a:off x="71719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Python SDK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5037B-FCB5-C65B-933C-208932CB5B42}"/>
              </a:ext>
            </a:extLst>
          </p:cNvPr>
          <p:cNvSpPr/>
          <p:nvPr/>
        </p:nvSpPr>
        <p:spPr bwMode="auto">
          <a:xfrm>
            <a:off x="5190743" y="436913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.NET SDK</a:t>
            </a:r>
          </a:p>
        </p:txBody>
      </p:sp>
    </p:spTree>
    <p:extLst>
      <p:ext uri="{BB962C8B-B14F-4D97-AF65-F5344CB8AC3E}">
        <p14:creationId xmlns:p14="http://schemas.microsoft.com/office/powerpoint/2010/main" val="42785602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60EC-137E-8FDC-0E82-A42ED528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3D315FC9-0379-622F-80C0-913D0701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5"/>
            <a:ext cx="11672047" cy="928011"/>
          </a:xfrm>
        </p:spPr>
        <p:txBody>
          <a:bodyPr/>
          <a:lstStyle/>
          <a:p>
            <a:r>
              <a:rPr lang="en-US" sz="4400" dirty="0"/>
              <a:t>Planning the Fabric CI/CD Project Lifecycle</a:t>
            </a:r>
          </a:p>
        </p:txBody>
      </p:sp>
    </p:spTree>
    <p:extLst>
      <p:ext uri="{BB962C8B-B14F-4D97-AF65-F5344CB8AC3E}">
        <p14:creationId xmlns:p14="http://schemas.microsoft.com/office/powerpoint/2010/main" val="286447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55EF-155B-A875-7ECB-A6BB9E5D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the Fabric CI/CD Project Lifecycles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9D63-F568-16AE-DFD0-6A9524D6F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80467"/>
          </a:xfrm>
        </p:spPr>
        <p:txBody>
          <a:bodyPr/>
          <a:lstStyle/>
          <a:p>
            <a:r>
              <a:rPr lang="en-US" dirty="0"/>
              <a:t>Steps in the planning process</a:t>
            </a:r>
          </a:p>
          <a:p>
            <a:pPr lvl="1"/>
            <a:r>
              <a:rPr lang="en-US" dirty="0"/>
              <a:t>Plan the Fabric solution </a:t>
            </a:r>
          </a:p>
          <a:p>
            <a:pPr lvl="1"/>
            <a:r>
              <a:rPr lang="en-US" dirty="0"/>
              <a:t>Plan the project environments</a:t>
            </a:r>
          </a:p>
          <a:p>
            <a:pPr lvl="1"/>
            <a:r>
              <a:rPr lang="en-US" dirty="0"/>
              <a:t>Plan the GIT repository</a:t>
            </a:r>
          </a:p>
          <a:p>
            <a:pPr lvl="1"/>
            <a:r>
              <a:rPr lang="en-US" dirty="0"/>
              <a:t>Plan the development process (CI)</a:t>
            </a:r>
          </a:p>
          <a:p>
            <a:pPr lvl="1"/>
            <a:r>
              <a:rPr lang="en-US" dirty="0"/>
              <a:t>Plan the release process (CD)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2323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9A8-3ABC-3593-1643-3B33EAF1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Plan the Fabric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B3ABF-F2B5-7775-499F-455076619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4139595"/>
          </a:xfrm>
        </p:spPr>
        <p:txBody>
          <a:bodyPr/>
          <a:lstStyle/>
          <a:p>
            <a:r>
              <a:rPr lang="en-US" dirty="0"/>
              <a:t>Plan and prototype the Fabric solution</a:t>
            </a:r>
          </a:p>
          <a:p>
            <a:pPr lvl="1"/>
            <a:r>
              <a:rPr lang="en-US" dirty="0"/>
              <a:t>Fabric solution is composed on Fabric items</a:t>
            </a:r>
          </a:p>
          <a:p>
            <a:pPr lvl="1"/>
            <a:r>
              <a:rPr lang="en-US" dirty="0"/>
              <a:t>Fabric solution usually includes workspace items which run ETL logic</a:t>
            </a:r>
          </a:p>
          <a:p>
            <a:r>
              <a:rPr lang="en-US" dirty="0"/>
              <a:t>Fabric solution can be designed to run in a single workspace</a:t>
            </a:r>
          </a:p>
          <a:p>
            <a:endParaRPr lang="en-US" dirty="0"/>
          </a:p>
          <a:p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r>
              <a:rPr lang="en-US" dirty="0"/>
              <a:t>Fabric solution can be spread across multiple workspaces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8A244-2658-0362-D79B-5EAF4388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41" y="2889958"/>
            <a:ext cx="7205965" cy="141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006E5-9054-C80F-6BDA-E2220F51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553"/>
          <a:stretch>
            <a:fillRect/>
          </a:stretch>
        </p:blipFill>
        <p:spPr>
          <a:xfrm>
            <a:off x="915415" y="4954067"/>
            <a:ext cx="4361435" cy="1561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74E7AC-86BD-03A6-D836-3F082451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37"/>
          <a:stretch>
            <a:fillRect/>
          </a:stretch>
        </p:blipFill>
        <p:spPr>
          <a:xfrm>
            <a:off x="5450646" y="4938795"/>
            <a:ext cx="4293719" cy="15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02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985-76D3-F8E2-C5AC-6C157911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5B86-017B-D244-B244-B9D81267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997196"/>
          </a:xfrm>
        </p:spPr>
        <p:txBody>
          <a:bodyPr/>
          <a:lstStyle/>
          <a:p>
            <a:r>
              <a:rPr lang="en-US" dirty="0"/>
              <a:t>Plan the Project Environments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D2F73-4814-6BEE-599F-AAD8D9532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509200"/>
          </a:xfrm>
        </p:spPr>
        <p:txBody>
          <a:bodyPr/>
          <a:lstStyle/>
          <a:p>
            <a:r>
              <a:rPr lang="en-US" dirty="0"/>
              <a:t>Fabric CI/CD project requires multiple environments such as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Each environment requires workspace(s) to run its own instance of the Fabric solution</a:t>
            </a:r>
          </a:p>
          <a:p>
            <a:pPr lvl="1"/>
            <a:r>
              <a:rPr lang="en-US" dirty="0"/>
              <a:t>Each environment requires Fabric capacity to run it workspace(s)</a:t>
            </a:r>
          </a:p>
          <a:p>
            <a:pPr lvl="1"/>
            <a:r>
              <a:rPr lang="en-US" dirty="0"/>
              <a:t>Each environment might require its own Azure resources such as a storage account or key vault</a:t>
            </a:r>
          </a:p>
          <a:p>
            <a:pPr lvl="1"/>
            <a:r>
              <a:rPr lang="en-US" dirty="0"/>
              <a:t>Each environment has unique environment-specific settings for things like datasource URLs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You must determine which environment-specific settings require parameterization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2758126-352C-DDDD-5BDC-7832788CB9F0}"/>
              </a:ext>
            </a:extLst>
          </p:cNvPr>
          <p:cNvSpPr/>
          <p:nvPr/>
        </p:nvSpPr>
        <p:spPr bwMode="auto">
          <a:xfrm rot="5400000">
            <a:off x="7322771" y="4664648"/>
            <a:ext cx="34457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176FE18-4E4D-B903-11DD-F87898AD1D9C}"/>
              </a:ext>
            </a:extLst>
          </p:cNvPr>
          <p:cNvSpPr/>
          <p:nvPr/>
        </p:nvSpPr>
        <p:spPr bwMode="auto">
          <a:xfrm rot="5400000">
            <a:off x="2131474" y="4705365"/>
            <a:ext cx="37571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0B1EBAD-7E9F-B620-8584-24EE90D75333}"/>
              </a:ext>
            </a:extLst>
          </p:cNvPr>
          <p:cNvSpPr/>
          <p:nvPr/>
        </p:nvSpPr>
        <p:spPr bwMode="auto">
          <a:xfrm rot="5400000">
            <a:off x="4786054" y="4673369"/>
            <a:ext cx="32713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C867D-50A4-AB0A-6A21-5AB2E5B9E75C}"/>
              </a:ext>
            </a:extLst>
          </p:cNvPr>
          <p:cNvSpPr/>
          <p:nvPr/>
        </p:nvSpPr>
        <p:spPr bwMode="auto">
          <a:xfrm>
            <a:off x="1455945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dev ADLS container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D7043-EA39-D0D2-ADDB-443870AD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71" y="5089422"/>
            <a:ext cx="1318117" cy="8269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DF1445-111A-ABC9-560D-8BE84CEBAD24}"/>
              </a:ext>
            </a:extLst>
          </p:cNvPr>
          <p:cNvSpPr/>
          <p:nvPr/>
        </p:nvSpPr>
        <p:spPr bwMode="auto">
          <a:xfrm>
            <a:off x="4086235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test ADLS container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F58651-396E-F670-0F95-A76FC23C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561" y="5089422"/>
            <a:ext cx="1318117" cy="8269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ED6B78-D908-7B70-97A2-EB6EA1A4239C}"/>
              </a:ext>
            </a:extLst>
          </p:cNvPr>
          <p:cNvSpPr/>
          <p:nvPr/>
        </p:nvSpPr>
        <p:spPr bwMode="auto">
          <a:xfrm>
            <a:off x="6631672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prod ADLS container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A2E25C-6A5F-25B3-ED50-47E70D1F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998" y="5089422"/>
            <a:ext cx="1318117" cy="8269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C674470-AAE0-D0FB-A9AA-203A5D53ECD9}"/>
              </a:ext>
            </a:extLst>
          </p:cNvPr>
          <p:cNvSpPr/>
          <p:nvPr/>
        </p:nvSpPr>
        <p:spPr bwMode="auto">
          <a:xfrm>
            <a:off x="1124231" y="3269551"/>
            <a:ext cx="2390196" cy="1341837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867B83-61DE-455F-7ADD-EAB28E945231}"/>
              </a:ext>
            </a:extLst>
          </p:cNvPr>
          <p:cNvSpPr/>
          <p:nvPr/>
        </p:nvSpPr>
        <p:spPr bwMode="auto">
          <a:xfrm>
            <a:off x="1262723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92DB7B-972E-B664-280B-4DFD6FD5BF7A}"/>
              </a:ext>
            </a:extLst>
          </p:cNvPr>
          <p:cNvSpPr/>
          <p:nvPr/>
        </p:nvSpPr>
        <p:spPr bwMode="auto">
          <a:xfrm>
            <a:off x="1262723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505786-7745-86CF-1448-78F19F3AE28B}"/>
              </a:ext>
            </a:extLst>
          </p:cNvPr>
          <p:cNvSpPr/>
          <p:nvPr/>
        </p:nvSpPr>
        <p:spPr bwMode="auto">
          <a:xfrm>
            <a:off x="3754521" y="3269551"/>
            <a:ext cx="2390196" cy="13418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CA65D5-6721-2BB7-0743-8486B59C90E3}"/>
              </a:ext>
            </a:extLst>
          </p:cNvPr>
          <p:cNvSpPr/>
          <p:nvPr/>
        </p:nvSpPr>
        <p:spPr bwMode="auto">
          <a:xfrm>
            <a:off x="3893013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B026AD-4F1C-0AC4-B9F8-AB254EB22DAC}"/>
              </a:ext>
            </a:extLst>
          </p:cNvPr>
          <p:cNvSpPr/>
          <p:nvPr/>
        </p:nvSpPr>
        <p:spPr bwMode="auto">
          <a:xfrm>
            <a:off x="3893013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C0AA4-515E-89BF-554E-CDAAC9C9C1AF}"/>
              </a:ext>
            </a:extLst>
          </p:cNvPr>
          <p:cNvSpPr/>
          <p:nvPr/>
        </p:nvSpPr>
        <p:spPr bwMode="auto">
          <a:xfrm>
            <a:off x="6299958" y="3269551"/>
            <a:ext cx="2390196" cy="13418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E39CF2-351E-D491-4F52-A05E0F8B8F7F}"/>
              </a:ext>
            </a:extLst>
          </p:cNvPr>
          <p:cNvSpPr/>
          <p:nvPr/>
        </p:nvSpPr>
        <p:spPr bwMode="auto">
          <a:xfrm>
            <a:off x="6438450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DD07D-B62A-9B9D-9458-A57E218580F9}"/>
              </a:ext>
            </a:extLst>
          </p:cNvPr>
          <p:cNvSpPr/>
          <p:nvPr/>
        </p:nvSpPr>
        <p:spPr bwMode="auto">
          <a:xfrm>
            <a:off x="6438450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1341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5409-D543-0F53-0844-4A43D4C6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the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37CEF-47E6-8BB8-15E4-840E1BF47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293757"/>
          </a:xfrm>
        </p:spPr>
        <p:txBody>
          <a:bodyPr/>
          <a:lstStyle/>
          <a:p>
            <a:r>
              <a:rPr lang="en-US" dirty="0"/>
              <a:t>Select a GIT provider</a:t>
            </a:r>
          </a:p>
          <a:p>
            <a:pPr lvl="1"/>
            <a:r>
              <a:rPr lang="en-US" dirty="0"/>
              <a:t>Choose between </a:t>
            </a:r>
            <a:r>
              <a:rPr lang="en-US" sz="1800" b="1" dirty="0">
                <a:solidFill>
                  <a:srgbClr val="8A0000"/>
                </a:solidFill>
              </a:rPr>
              <a:t>Azure Dev Ops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GitHub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GitHub Enterprise</a:t>
            </a:r>
            <a:endParaRPr lang="en-US" b="1" dirty="0">
              <a:solidFill>
                <a:srgbClr val="8A0000"/>
              </a:solidFill>
            </a:endParaRP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Adopt a branching strategy to determine what long-lived branches to create</a:t>
            </a:r>
          </a:p>
          <a:p>
            <a:pPr lvl="1"/>
            <a:r>
              <a:rPr lang="en-US" dirty="0"/>
              <a:t>Determine what branch to create and what branch policies to configure on specific branches</a:t>
            </a:r>
            <a:endParaRPr lang="en-US" b="1" dirty="0">
              <a:solidFill>
                <a:srgbClr val="8A0000"/>
              </a:solidFill>
            </a:endParaRPr>
          </a:p>
          <a:p>
            <a:pPr>
              <a:spcBef>
                <a:spcPts val="2400"/>
              </a:spcBef>
            </a:pPr>
            <a:r>
              <a:rPr lang="en-US" dirty="0"/>
              <a:t>Plan on who will be developing workflows in GIT provider to control CI/CD lifecycle</a:t>
            </a:r>
          </a:p>
          <a:p>
            <a:pPr lvl="1"/>
            <a:r>
              <a:rPr lang="en-US" dirty="0"/>
              <a:t>When using Azure Dev Ops, workflows are developed using </a:t>
            </a:r>
            <a:r>
              <a:rPr lang="en-US" sz="1800" b="1" dirty="0">
                <a:solidFill>
                  <a:srgbClr val="8A0000"/>
                </a:solidFill>
              </a:rPr>
              <a:t>Azure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When using GitHub, workflows are developed using </a:t>
            </a:r>
            <a:r>
              <a:rPr lang="en-US" sz="1800" b="1" dirty="0">
                <a:solidFill>
                  <a:srgbClr val="8A0000"/>
                </a:solidFill>
              </a:rPr>
              <a:t>GitHub Workflow Actions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A8D43-67D1-C381-08E1-9FC79D70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304"/>
          <a:stretch>
            <a:fillRect/>
          </a:stretch>
        </p:blipFill>
        <p:spPr>
          <a:xfrm>
            <a:off x="1168502" y="2114273"/>
            <a:ext cx="2666525" cy="19560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B48646-ABAA-E83C-58E3-6C8EA7EA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52" y="2114273"/>
            <a:ext cx="2666525" cy="19560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30241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3B93-0E8E-2DB5-A177-893FD1BDC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the Development Process for Continuous Integration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B6F40D-A655-8589-49CB-5B00A41F6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Feature branches and feature workspaces recommended for development process</a:t>
            </a:r>
          </a:p>
          <a:p>
            <a:pPr lvl="1"/>
            <a:r>
              <a:rPr lang="en-US" dirty="0"/>
              <a:t>Determine what GIT branch will be the </a:t>
            </a:r>
            <a:r>
              <a:rPr lang="en-US" sz="1800" b="1" dirty="0">
                <a:solidFill>
                  <a:srgbClr val="8A0000"/>
                </a:solidFill>
              </a:rPr>
              <a:t>integration branch</a:t>
            </a:r>
            <a:r>
              <a:rPr lang="en-US" dirty="0"/>
              <a:t> (typically it is either </a:t>
            </a:r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Plan how to create and configure features branches and feature workspaces </a:t>
            </a:r>
          </a:p>
          <a:p>
            <a:pPr lvl="1"/>
            <a:r>
              <a:rPr lang="en-US" dirty="0"/>
              <a:t>Plan on how to manage feature workspace lifecycle (</a:t>
            </a:r>
            <a:r>
              <a:rPr lang="en-US" i="1" dirty="0"/>
              <a:t>to pool or not to pool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Plan on how workspace items are edited, committed to GIT and merged using pull requests</a:t>
            </a:r>
          </a:p>
          <a:p>
            <a:pPr lvl="1"/>
            <a:r>
              <a:rPr lang="en-US" dirty="0"/>
              <a:t>Plan on developing workflow to sync dev workspace as changes are merged to integration branch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C14066-644F-D510-81DC-A78FE031AB22}"/>
              </a:ext>
            </a:extLst>
          </p:cNvPr>
          <p:cNvGrpSpPr/>
          <p:nvPr/>
        </p:nvGrpSpPr>
        <p:grpSpPr>
          <a:xfrm>
            <a:off x="1170051" y="3663216"/>
            <a:ext cx="6392799" cy="3066688"/>
            <a:chOff x="1179576" y="3653690"/>
            <a:chExt cx="5940941" cy="31503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93420F-13B8-D764-3BD1-FACD2B520B65}"/>
                </a:ext>
              </a:extLst>
            </p:cNvPr>
            <p:cNvSpPr/>
            <p:nvPr/>
          </p:nvSpPr>
          <p:spPr bwMode="auto">
            <a:xfrm>
              <a:off x="1179576" y="3653690"/>
              <a:ext cx="5940941" cy="3150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A87C45-7994-C9FD-EDDB-D3209BE79E64}"/>
                </a:ext>
              </a:extLst>
            </p:cNvPr>
            <p:cNvSpPr/>
            <p:nvPr/>
          </p:nvSpPr>
          <p:spPr bwMode="auto">
            <a:xfrm>
              <a:off x="5400481" y="5251115"/>
              <a:ext cx="1367244" cy="109231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76DF8F6-4CEF-95F8-D9E3-9555D0079F13}"/>
                </a:ext>
              </a:extLst>
            </p:cNvPr>
            <p:cNvGrpSpPr/>
            <p:nvPr/>
          </p:nvGrpSpPr>
          <p:grpSpPr>
            <a:xfrm>
              <a:off x="1365938" y="5240777"/>
              <a:ext cx="3956010" cy="483688"/>
              <a:chOff x="1649390" y="2912118"/>
              <a:chExt cx="4805684" cy="614039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63985A-0056-9989-A131-36C9BF2ECFEE}"/>
                  </a:ext>
                </a:extLst>
              </p:cNvPr>
              <p:cNvSpPr/>
              <p:nvPr/>
            </p:nvSpPr>
            <p:spPr bwMode="auto">
              <a:xfrm>
                <a:off x="4030838" y="2912118"/>
                <a:ext cx="1261062" cy="61403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7615CBA-6F45-8412-04DC-27D627DA0F6F}"/>
                  </a:ext>
                </a:extLst>
              </p:cNvPr>
              <p:cNvSpPr/>
              <p:nvPr/>
            </p:nvSpPr>
            <p:spPr bwMode="auto">
              <a:xfrm>
                <a:off x="1649390" y="2912118"/>
                <a:ext cx="1261062" cy="6140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 29">
                <a:extLst>
                  <a:ext uri="{FF2B5EF4-FFF2-40B4-BE49-F238E27FC236}">
                    <a16:creationId xmlns:a16="http://schemas.microsoft.com/office/drawing/2014/main" id="{CDFFA95A-FB6B-8E43-87C9-17AA39509D27}"/>
                  </a:ext>
                </a:extLst>
              </p:cNvPr>
              <p:cNvSpPr/>
              <p:nvPr/>
            </p:nvSpPr>
            <p:spPr bwMode="auto">
              <a:xfrm flipH="1">
                <a:off x="2957239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31" name="Arrow: Left 30">
                <a:extLst>
                  <a:ext uri="{FF2B5EF4-FFF2-40B4-BE49-F238E27FC236}">
                    <a16:creationId xmlns:a16="http://schemas.microsoft.com/office/drawing/2014/main" id="{CE9F9056-A338-F946-EB34-D7F4BE44837E}"/>
                  </a:ext>
                </a:extLst>
              </p:cNvPr>
              <p:cNvSpPr/>
              <p:nvPr/>
            </p:nvSpPr>
            <p:spPr bwMode="auto">
              <a:xfrm flipH="1">
                <a:off x="5371032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pull request</a:t>
                </a:r>
              </a:p>
            </p:txBody>
          </p:sp>
        </p:grp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4B124CF1-EF6A-970C-A2A5-6132F46D849A}"/>
                </a:ext>
              </a:extLst>
            </p:cNvPr>
            <p:cNvSpPr/>
            <p:nvPr/>
          </p:nvSpPr>
          <p:spPr bwMode="auto">
            <a:xfrm rot="16200000">
              <a:off x="5808541" y="4759457"/>
              <a:ext cx="551123" cy="394405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64CEB9-FAFC-6F78-A416-CAD7A151BEC8}"/>
                </a:ext>
              </a:extLst>
            </p:cNvPr>
            <p:cNvGrpSpPr/>
            <p:nvPr/>
          </p:nvGrpSpPr>
          <p:grpSpPr>
            <a:xfrm>
              <a:off x="1365938" y="5859738"/>
              <a:ext cx="3956010" cy="483688"/>
              <a:chOff x="1649390" y="2912118"/>
              <a:chExt cx="4805684" cy="61403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ADC6523-DE65-1306-6C20-DF20775E00FD}"/>
                  </a:ext>
                </a:extLst>
              </p:cNvPr>
              <p:cNvSpPr/>
              <p:nvPr/>
            </p:nvSpPr>
            <p:spPr bwMode="auto">
              <a:xfrm>
                <a:off x="4030838" y="2912118"/>
                <a:ext cx="1261062" cy="61403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309ACDC-A595-0A84-5D00-8BAAA7665DCC}"/>
                  </a:ext>
                </a:extLst>
              </p:cNvPr>
              <p:cNvSpPr/>
              <p:nvPr/>
            </p:nvSpPr>
            <p:spPr bwMode="auto">
              <a:xfrm>
                <a:off x="1649390" y="2912118"/>
                <a:ext cx="1261062" cy="6140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6" name="Arrow: Left 25">
                <a:extLst>
                  <a:ext uri="{FF2B5EF4-FFF2-40B4-BE49-F238E27FC236}">
                    <a16:creationId xmlns:a16="http://schemas.microsoft.com/office/drawing/2014/main" id="{42CF4B73-5116-9714-4BC8-ACC249C978F4}"/>
                  </a:ext>
                </a:extLst>
              </p:cNvPr>
              <p:cNvSpPr/>
              <p:nvPr/>
            </p:nvSpPr>
            <p:spPr bwMode="auto">
              <a:xfrm flipH="1">
                <a:off x="2957239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27" name="Arrow: Left 26">
                <a:extLst>
                  <a:ext uri="{FF2B5EF4-FFF2-40B4-BE49-F238E27FC236}">
                    <a16:creationId xmlns:a16="http://schemas.microsoft.com/office/drawing/2014/main" id="{6A1DFD02-94CE-FD06-F138-6C9FEC1E23DC}"/>
                  </a:ext>
                </a:extLst>
              </p:cNvPr>
              <p:cNvSpPr/>
              <p:nvPr/>
            </p:nvSpPr>
            <p:spPr bwMode="auto">
              <a:xfrm flipH="1">
                <a:off x="5371032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pull request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34E09D-8014-252E-566A-C5BB4A511520}"/>
                </a:ext>
              </a:extLst>
            </p:cNvPr>
            <p:cNvSpPr/>
            <p:nvPr/>
          </p:nvSpPr>
          <p:spPr bwMode="auto">
            <a:xfrm>
              <a:off x="5400481" y="3860207"/>
              <a:ext cx="1367244" cy="7625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253844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0225-D3B5-1752-FD8F-470294C7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69EC-77D5-ECAB-2141-ED0B07C2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Plan the Release Process for Continuous Deployment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3C95E-5987-7268-5105-CBD1240BA6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5678478"/>
          </a:xfrm>
        </p:spPr>
        <p:txBody>
          <a:bodyPr/>
          <a:lstStyle/>
          <a:p>
            <a:r>
              <a:rPr lang="en-US" dirty="0"/>
              <a:t>Release process built to deploy updates from integration branch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Deploy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for testing and, once approved, deploy to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</a:t>
            </a: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Choose between several common options for building a release process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1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deployment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2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GIT synchronization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3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GitFlow</a:t>
            </a:r>
            <a:r>
              <a:rPr lang="en-US" dirty="0"/>
              <a:t> branching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4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release flow</a:t>
            </a:r>
            <a:r>
              <a:rPr lang="en-US" dirty="0"/>
              <a:t> branching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BA9EAB-2A9C-2B3E-E3E2-CE55826C8A73}"/>
              </a:ext>
            </a:extLst>
          </p:cNvPr>
          <p:cNvGrpSpPr/>
          <p:nvPr/>
        </p:nvGrpSpPr>
        <p:grpSpPr>
          <a:xfrm>
            <a:off x="1055369" y="2155022"/>
            <a:ext cx="6977683" cy="2356018"/>
            <a:chOff x="1085850" y="2155022"/>
            <a:chExt cx="7102678" cy="250989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2F1CDB2-6A51-F639-CC4D-1DF17F79F261}"/>
                </a:ext>
              </a:extLst>
            </p:cNvPr>
            <p:cNvSpPr/>
            <p:nvPr/>
          </p:nvSpPr>
          <p:spPr bwMode="auto">
            <a:xfrm>
              <a:off x="1085850" y="2155022"/>
              <a:ext cx="4042310" cy="25098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965A6-561F-4985-EFF2-770F500CAB91}"/>
                </a:ext>
              </a:extLst>
            </p:cNvPr>
            <p:cNvSpPr/>
            <p:nvPr/>
          </p:nvSpPr>
          <p:spPr bwMode="auto">
            <a:xfrm>
              <a:off x="5252720" y="2155022"/>
              <a:ext cx="2935808" cy="2509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CB1E23-A371-92C6-5F22-FC36DF5F5E14}"/>
                </a:ext>
              </a:extLst>
            </p:cNvPr>
            <p:cNvGrpSpPr/>
            <p:nvPr/>
          </p:nvGrpSpPr>
          <p:grpSpPr>
            <a:xfrm>
              <a:off x="1201986" y="3374954"/>
              <a:ext cx="2584901" cy="847805"/>
              <a:chOff x="1854618" y="1506117"/>
              <a:chExt cx="3443987" cy="13927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EC21A04-B806-F4D7-DF35-4A3F50369190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2D1EE7A1-CBA6-A48C-1587-AAD5FD95DC79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68E3538-726E-353F-7CAC-54169958555E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19290F10-E198-B791-00A5-B50B50275F8E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2" name="Arrow: Left-Right 31">
                  <a:extLst>
                    <a:ext uri="{FF2B5EF4-FFF2-40B4-BE49-F238E27FC236}">
                      <a16:creationId xmlns:a16="http://schemas.microsoft.com/office/drawing/2014/main" id="{DBFEA053-0C64-0CC2-484C-AC8D001EA007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BA0017C-7F70-29BF-2D06-563243F9398E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25" name="Arrow: Right 24">
                  <a:extLst>
                    <a:ext uri="{FF2B5EF4-FFF2-40B4-BE49-F238E27FC236}">
                      <a16:creationId xmlns:a16="http://schemas.microsoft.com/office/drawing/2014/main" id="{3C9C349B-A1F2-EAF4-442A-2BEF9133FEE7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9A71CEE-AC94-D470-DBB4-6107F61C1137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71F869D0-6945-E90E-DD60-C2FF3194E411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8" name="Arrow: Left-Right 27">
                  <a:extLst>
                    <a:ext uri="{FF2B5EF4-FFF2-40B4-BE49-F238E27FC236}">
                      <a16:creationId xmlns:a16="http://schemas.microsoft.com/office/drawing/2014/main" id="{534C7983-DCC7-F86F-B388-6895F775EFAE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B81ED4-AFAE-A823-E6D5-A9A0B26EB62F}"/>
                </a:ext>
              </a:extLst>
            </p:cNvPr>
            <p:cNvGrpSpPr/>
            <p:nvPr/>
          </p:nvGrpSpPr>
          <p:grpSpPr>
            <a:xfrm>
              <a:off x="3898808" y="2298057"/>
              <a:ext cx="946496" cy="1952915"/>
              <a:chOff x="5239777" y="695739"/>
              <a:chExt cx="1261062" cy="2601961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00E468-5321-B056-B902-7F7FE79DBA26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7EC7F85-FF8F-7737-0451-86F9116AB2BD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3CACE5FE-905B-FA8B-855E-CA3AEE7BED09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9ED237-D28E-9012-0E30-8A9BB98BAB9C}"/>
                </a:ext>
              </a:extLst>
            </p:cNvPr>
            <p:cNvGrpSpPr/>
            <p:nvPr/>
          </p:nvGrpSpPr>
          <p:grpSpPr>
            <a:xfrm>
              <a:off x="5563638" y="2298057"/>
              <a:ext cx="946496" cy="1952915"/>
              <a:chOff x="5239777" y="695739"/>
              <a:chExt cx="1261062" cy="260196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D7ED60-29A2-D4D5-D4E2-1A973164CF65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F493742-326A-9408-0FA3-067D7CAA7631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64C94ED8-B7DD-D233-970F-960D2EBC39FC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34E7134-F8E6-30FF-4933-3EF985B32959}"/>
                </a:ext>
              </a:extLst>
            </p:cNvPr>
            <p:cNvSpPr/>
            <p:nvPr/>
          </p:nvSpPr>
          <p:spPr bwMode="auto">
            <a:xfrm>
              <a:off x="4882093" y="3663199"/>
              <a:ext cx="644757" cy="263348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7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028F6F-C1E6-8085-F1BA-FAE09D36974E}"/>
                </a:ext>
              </a:extLst>
            </p:cNvPr>
            <p:cNvGrpSpPr/>
            <p:nvPr/>
          </p:nvGrpSpPr>
          <p:grpSpPr>
            <a:xfrm>
              <a:off x="7015108" y="2298057"/>
              <a:ext cx="946496" cy="1952915"/>
              <a:chOff x="5239777" y="695739"/>
              <a:chExt cx="1261062" cy="260196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356C87-2AEC-85B7-6406-78B390F54E8A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CD2C1CC-E120-87AF-EBF0-AEC5F17233CD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11904BF3-0CD3-041B-A486-6B93C49A066F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56A78BF-5BF3-C5E9-66F2-A8CC42F91915}"/>
                </a:ext>
              </a:extLst>
            </p:cNvPr>
            <p:cNvSpPr/>
            <p:nvPr/>
          </p:nvSpPr>
          <p:spPr bwMode="auto">
            <a:xfrm>
              <a:off x="6546923" y="3654783"/>
              <a:ext cx="429933" cy="263348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7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080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D725-E653-F8E3-0540-5A75822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CC6E1667-B6F3-0309-139B-09B342D11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5"/>
            <a:ext cx="11672047" cy="928011"/>
          </a:xfrm>
        </p:spPr>
        <p:txBody>
          <a:bodyPr/>
          <a:lstStyle/>
          <a:p>
            <a:r>
              <a:rPr lang="en-US" sz="4400" dirty="0"/>
              <a:t>Creating Project Infrastructure using Terraform</a:t>
            </a:r>
          </a:p>
        </p:txBody>
      </p:sp>
    </p:spTree>
    <p:extLst>
      <p:ext uri="{BB962C8B-B14F-4D97-AF65-F5344CB8AC3E}">
        <p14:creationId xmlns:p14="http://schemas.microsoft.com/office/powerpoint/2010/main" val="195705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104A-DFDB-D183-B83A-7D43845C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Terraform to Create Project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E433B-F8BF-4CAB-690D-38D955CD9F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39376"/>
          </a:xfrm>
        </p:spPr>
        <p:txBody>
          <a:bodyPr/>
          <a:lstStyle/>
          <a:p>
            <a:r>
              <a:rPr lang="en-US" dirty="0"/>
              <a:t>Terraform is open-source tool built on the principles of </a:t>
            </a:r>
            <a:r>
              <a:rPr lang="en-US" sz="2000" b="1" dirty="0">
                <a:solidFill>
                  <a:srgbClr val="8A0000"/>
                </a:solidFill>
              </a:rPr>
              <a:t>infrastructure as code (IaC)</a:t>
            </a:r>
            <a:endParaRPr lang="en-US" dirty="0"/>
          </a:p>
          <a:p>
            <a:pPr lvl="1"/>
            <a:r>
              <a:rPr lang="en-US" dirty="0"/>
              <a:t>IaC pattern based on defining the infrastructure for software project using configuration files</a:t>
            </a:r>
          </a:p>
          <a:p>
            <a:pPr lvl="1"/>
            <a:r>
              <a:rPr lang="en-US" dirty="0"/>
              <a:t>Provides significant benefits over manual setup processes or procedural programming logic</a:t>
            </a:r>
          </a:p>
          <a:p>
            <a:pPr lvl="1"/>
            <a:r>
              <a:rPr lang="en-US" dirty="0"/>
              <a:t>Terraform deployment process is versionable and repeatable</a:t>
            </a:r>
          </a:p>
          <a:p>
            <a:r>
              <a:rPr lang="en-US" dirty="0"/>
              <a:t>Use Terraform to create resources needed for Fabric CI/CD project environments</a:t>
            </a:r>
          </a:p>
          <a:p>
            <a:pPr lvl="1"/>
            <a:r>
              <a:rPr lang="en-US" dirty="0"/>
              <a:t>Use Terraform to create tenant-level items in Fabric such as </a:t>
            </a:r>
            <a:r>
              <a:rPr lang="en-US" sz="1800" b="1" dirty="0">
                <a:solidFill>
                  <a:srgbClr val="8A0000"/>
                </a:solidFill>
              </a:rPr>
              <a:t>workspace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capacities</a:t>
            </a:r>
            <a:r>
              <a:rPr lang="en-US" dirty="0"/>
              <a:t> &amp; </a:t>
            </a:r>
            <a:r>
              <a:rPr lang="en-US" sz="1800" b="1" dirty="0">
                <a:solidFill>
                  <a:srgbClr val="8A0000"/>
                </a:solidFill>
              </a:rPr>
              <a:t>connections</a:t>
            </a:r>
            <a:endParaRPr lang="en-US" dirty="0"/>
          </a:p>
          <a:p>
            <a:pPr lvl="1"/>
            <a:r>
              <a:rPr lang="en-US" dirty="0"/>
              <a:t>Use Terraform to create Azure resources such as </a:t>
            </a:r>
            <a:r>
              <a:rPr lang="en-US" sz="1800" b="1" dirty="0">
                <a:solidFill>
                  <a:srgbClr val="8A0000"/>
                </a:solidFill>
              </a:rPr>
              <a:t>storage accounts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key vaults</a:t>
            </a:r>
            <a:r>
              <a:rPr lang="en-US" dirty="0"/>
              <a:t> &amp; </a:t>
            </a:r>
            <a:r>
              <a:rPr lang="en-US" sz="1800" b="1" dirty="0">
                <a:solidFill>
                  <a:srgbClr val="8A0000"/>
                </a:solidFill>
              </a:rPr>
              <a:t>service principals</a:t>
            </a:r>
            <a:endParaRPr lang="en-US" b="1" dirty="0">
              <a:solidFill>
                <a:srgbClr val="8A0000"/>
              </a:solidFill>
            </a:endParaRP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034870-61C4-C262-2CB4-AE6CBEC63A93}"/>
              </a:ext>
            </a:extLst>
          </p:cNvPr>
          <p:cNvGrpSpPr/>
          <p:nvPr/>
        </p:nvGrpSpPr>
        <p:grpSpPr>
          <a:xfrm>
            <a:off x="1131037" y="4215860"/>
            <a:ext cx="2643763" cy="2499900"/>
            <a:chOff x="946291" y="2743200"/>
            <a:chExt cx="3452990" cy="33832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72298CB-7D0E-7573-757D-CEA6ED58894A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environment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E33307-C464-0EF1-2CE3-E8FC74A98FFC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(F4)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F62B6F-3477-9790-AEB6-D8F6C7045E2F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dev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0EB44D-FFC8-E12C-AB49-D1D2A0D6E1BB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06542B-1D94-9F77-1B80-94B6C908DE19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dev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DBE0742-2B55-368B-CC64-C7A490CEF45B}"/>
              </a:ext>
            </a:extLst>
          </p:cNvPr>
          <p:cNvGrpSpPr/>
          <p:nvPr/>
        </p:nvGrpSpPr>
        <p:grpSpPr>
          <a:xfrm>
            <a:off x="4040364" y="4215860"/>
            <a:ext cx="2643763" cy="2499900"/>
            <a:chOff x="946291" y="2743200"/>
            <a:chExt cx="3452990" cy="338328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6A3CFF-CBE7-03F4-72D2-840AD9727D16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environment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9B7610A-98DD-E41A-5DB1-1F3556607CC2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(F16)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BF0843B-AD41-F71B-5441-434DBB27CAF1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test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F8FFD5-C2C6-CB87-6272-6F39A4AE8E1D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EFDF2B-0EDD-D5DA-2268-6DC939DC8C5D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test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5DBB4C-5940-A92E-E1B0-23934546BB6C}"/>
              </a:ext>
            </a:extLst>
          </p:cNvPr>
          <p:cNvGrpSpPr/>
          <p:nvPr/>
        </p:nvGrpSpPr>
        <p:grpSpPr>
          <a:xfrm>
            <a:off x="6855837" y="4215860"/>
            <a:ext cx="2643763" cy="2499900"/>
            <a:chOff x="946291" y="2743200"/>
            <a:chExt cx="3452990" cy="338328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3EA24E-67EB-7896-5A12-C927FDC2B735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CBF7486-8C8C-A6C8-604F-94C6837B07B8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(F64)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828668-4BF5-6E3E-7E58-A817C7BEBF17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prod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E582CD6-080B-9BAC-B115-F721D862DCF7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15F3F4-62A4-49A9-551D-A45E2124A874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prod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22038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9283-E9B2-D7D0-8A88-BB29F7F1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Demo Files in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C7237-A6BC-9DFF-60A3-A3E2227E9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All Terraform demo files available in a GitHub repository</a:t>
            </a:r>
          </a:p>
          <a:p>
            <a:pPr lvl="1"/>
            <a:r>
              <a:rPr lang="en-US" dirty="0">
                <a:hlinkClick r:id="rId2"/>
              </a:rPr>
              <a:t>https://github.com/FabricDevCamp/fabric-terraform-demo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CD470-AD1D-FAAB-EC36-328F332B0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1" y="2204626"/>
            <a:ext cx="6036231" cy="4377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88905-BB99-50B6-31EB-4F7FF9599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249" y="2204626"/>
            <a:ext cx="3543795" cy="23720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605048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438B-F390-4F4E-4047-D95AF5EE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Providers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8BABA-AAB3-FFE4-793D-B5C78768C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Terraform delegates API calls to Terraform providers</a:t>
            </a:r>
          </a:p>
          <a:p>
            <a:pPr lvl="1"/>
            <a:r>
              <a:rPr lang="en-US" sz="1800" b="1" dirty="0" err="1">
                <a:solidFill>
                  <a:srgbClr val="8A0000"/>
                </a:solidFill>
              </a:rPr>
              <a:t>azurerm</a:t>
            </a:r>
            <a:r>
              <a:rPr lang="en-US" dirty="0"/>
              <a:t> provider used to provision and manage Azure resources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fabric</a:t>
            </a:r>
            <a:r>
              <a:rPr lang="en-US" dirty="0"/>
              <a:t> provider used to provision and manage fabric resources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60D4A2-1626-0765-EB39-BF32DFBAC6A6}"/>
              </a:ext>
            </a:extLst>
          </p:cNvPr>
          <p:cNvGrpSpPr/>
          <p:nvPr/>
        </p:nvGrpSpPr>
        <p:grpSpPr>
          <a:xfrm>
            <a:off x="1179756" y="2580035"/>
            <a:ext cx="6958404" cy="4096556"/>
            <a:chOff x="1362636" y="1381760"/>
            <a:chExt cx="7791524" cy="490231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1EDC40-17B3-A0E9-C679-22D7FE7BE55F}"/>
                </a:ext>
              </a:extLst>
            </p:cNvPr>
            <p:cNvGrpSpPr/>
            <p:nvPr/>
          </p:nvGrpSpPr>
          <p:grpSpPr>
            <a:xfrm>
              <a:off x="1362636" y="1381760"/>
              <a:ext cx="7791524" cy="4902312"/>
              <a:chOff x="1362636" y="1341121"/>
              <a:chExt cx="8579224" cy="494295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9A5FFCA-6E0E-40AB-0E53-E175B31A532E}"/>
                  </a:ext>
                </a:extLst>
              </p:cNvPr>
              <p:cNvSpPr/>
              <p:nvPr/>
            </p:nvSpPr>
            <p:spPr bwMode="auto">
              <a:xfrm>
                <a:off x="5755341" y="5851571"/>
                <a:ext cx="4186519" cy="43250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1F27AE-BEA0-9AB7-EFEE-895F0A38C4FA}"/>
                  </a:ext>
                </a:extLst>
              </p:cNvPr>
              <p:cNvSpPr/>
              <p:nvPr/>
            </p:nvSpPr>
            <p:spPr bwMode="auto">
              <a:xfrm>
                <a:off x="1362636" y="4786570"/>
                <a:ext cx="8579224" cy="50188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002FA18-2CED-642E-EF85-415816A0CEF2}"/>
                  </a:ext>
                </a:extLst>
              </p:cNvPr>
              <p:cNvSpPr/>
              <p:nvPr/>
            </p:nvSpPr>
            <p:spPr bwMode="auto">
              <a:xfrm>
                <a:off x="1362636" y="5851571"/>
                <a:ext cx="4186519" cy="43250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Azure REST APIs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26E40E-14AF-851D-EE94-D7283A8FDDAB}"/>
                  </a:ext>
                </a:extLst>
              </p:cNvPr>
              <p:cNvSpPr/>
              <p:nvPr/>
            </p:nvSpPr>
            <p:spPr bwMode="auto">
              <a:xfrm>
                <a:off x="1362636" y="1341121"/>
                <a:ext cx="8579224" cy="33760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Your Terraform Configuration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637AD7A-A149-5924-D09B-6278631B4CC0}"/>
                  </a:ext>
                </a:extLst>
              </p:cNvPr>
              <p:cNvSpPr/>
              <p:nvPr/>
            </p:nvSpPr>
            <p:spPr bwMode="auto">
              <a:xfrm>
                <a:off x="5755341" y="5357834"/>
                <a:ext cx="4186519" cy="4325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 provider for Fabric (</a:t>
                </a:r>
                <a:r>
                  <a:rPr lang="en-US" sz="12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fabric</a:t>
                </a: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FD14EB-EC05-73DE-AE53-805DB01BA16D}"/>
                  </a:ext>
                </a:extLst>
              </p:cNvPr>
              <p:cNvSpPr/>
              <p:nvPr/>
            </p:nvSpPr>
            <p:spPr bwMode="auto">
              <a:xfrm>
                <a:off x="1362636" y="5357834"/>
                <a:ext cx="4186519" cy="43250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 provider for Azure (</a:t>
                </a:r>
                <a:r>
                  <a:rPr lang="en-US" sz="1200" b="1" dirty="0" err="1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azurerm</a:t>
                </a: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)</a:t>
                </a: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45FDE81-A48C-B1CA-DDBE-C5B83C67C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2790" y="1959566"/>
              <a:ext cx="3709553" cy="25320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B0DE4EE-DFB0-45A9-14B3-900706C1A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528" y="1919555"/>
              <a:ext cx="3309447" cy="2572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5382D701-2A8D-C15C-C8FB-83C0F40EF50F}"/>
                </a:ext>
              </a:extLst>
            </p:cNvPr>
            <p:cNvSpPr/>
            <p:nvPr/>
          </p:nvSpPr>
          <p:spPr bwMode="auto">
            <a:xfrm>
              <a:off x="3108006" y="4489694"/>
              <a:ext cx="579120" cy="707410"/>
            </a:xfrm>
            <a:prstGeom prst="downArrow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8AEF80BE-B8DE-EAAC-44D5-092B0C31A2DF}"/>
                </a:ext>
              </a:extLst>
            </p:cNvPr>
            <p:cNvSpPr/>
            <p:nvPr/>
          </p:nvSpPr>
          <p:spPr bwMode="auto">
            <a:xfrm>
              <a:off x="6913691" y="4521200"/>
              <a:ext cx="579120" cy="675904"/>
            </a:xfrm>
            <a:prstGeom prst="downArrow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936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228B-B909-02B3-004F-6D810A03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AB02-9B50-6977-2378-1E66B60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State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61A08-0401-5965-B10B-8092B80D0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85597"/>
          </a:xfrm>
        </p:spPr>
        <p:txBody>
          <a:bodyPr/>
          <a:lstStyle/>
          <a:p>
            <a:r>
              <a:rPr lang="en-US" dirty="0"/>
              <a:t>Steps for using Terraform in a Fabric CI/CD project?</a:t>
            </a:r>
          </a:p>
          <a:p>
            <a:pPr lvl="1"/>
            <a:r>
              <a:rPr lang="en-US" dirty="0"/>
              <a:t>Create a Terraform configuration in a folder using one or more configuration files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init</a:t>
            </a:r>
            <a:r>
              <a:rPr lang="en-US" dirty="0"/>
              <a:t> command to download local copy of provider-specific runtime files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plan</a:t>
            </a:r>
            <a:r>
              <a:rPr lang="en-US" dirty="0"/>
              <a:t> command to review planned lists of the steps required to deploy configuration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apply</a:t>
            </a:r>
            <a:r>
              <a:rPr lang="en-US" dirty="0"/>
              <a:t> command to start job to create resources needed to match your configuration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destroy</a:t>
            </a:r>
            <a:r>
              <a:rPr lang="en-US" dirty="0"/>
              <a:t> command at end of project to clean up all resources</a:t>
            </a:r>
          </a:p>
          <a:p>
            <a:r>
              <a:rPr lang="en-US" dirty="0"/>
              <a:t>Terraform creates state file to track resources properties as they're created or updated</a:t>
            </a:r>
          </a:p>
          <a:p>
            <a:pPr lvl="1"/>
            <a:r>
              <a:rPr lang="en-US" dirty="0"/>
              <a:t>By tracking resource state, Terraform can compare the configuration against the deployment</a:t>
            </a:r>
          </a:p>
          <a:p>
            <a:pPr lvl="1"/>
            <a:r>
              <a:rPr lang="en-US" dirty="0"/>
              <a:t>State file allows Terraform to determine what needs to be created, updated or destroyed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02968-5ECA-D7C3-67FD-319687707284}"/>
              </a:ext>
            </a:extLst>
          </p:cNvPr>
          <p:cNvGrpSpPr/>
          <p:nvPr/>
        </p:nvGrpSpPr>
        <p:grpSpPr>
          <a:xfrm>
            <a:off x="1138555" y="4888738"/>
            <a:ext cx="8290560" cy="1889760"/>
            <a:chOff x="1138555" y="4888738"/>
            <a:chExt cx="8290560" cy="18897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0164C2-1B91-87BF-2C9C-C4FE65DBE1CC}"/>
                </a:ext>
              </a:extLst>
            </p:cNvPr>
            <p:cNvSpPr/>
            <p:nvPr/>
          </p:nvSpPr>
          <p:spPr bwMode="auto">
            <a:xfrm>
              <a:off x="1138555" y="4888738"/>
              <a:ext cx="8290560" cy="1889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486E9786-6D73-9E2E-9501-6DDD8C15A286}"/>
                </a:ext>
              </a:extLst>
            </p:cNvPr>
            <p:cNvSpPr/>
            <p:nvPr/>
          </p:nvSpPr>
          <p:spPr bwMode="auto">
            <a:xfrm>
              <a:off x="3249361" y="5490144"/>
              <a:ext cx="4034779" cy="721360"/>
            </a:xfrm>
            <a:prstGeom prst="rightArrow">
              <a:avLst/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apply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E018C5-CB17-F417-9E58-219A761E5FB5}"/>
                </a:ext>
              </a:extLst>
            </p:cNvPr>
            <p:cNvSpPr/>
            <p:nvPr/>
          </p:nvSpPr>
          <p:spPr bwMode="auto">
            <a:xfrm>
              <a:off x="1325880" y="5146286"/>
              <a:ext cx="1958543" cy="1352812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08950C-7F99-88EA-62DB-60CA67A123E6}"/>
                </a:ext>
              </a:extLst>
            </p:cNvPr>
            <p:cNvSpPr/>
            <p:nvPr/>
          </p:nvSpPr>
          <p:spPr bwMode="auto">
            <a:xfrm>
              <a:off x="4191283" y="5141206"/>
              <a:ext cx="2164397" cy="1352812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Terraform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1678BA-C79A-B3DC-7480-EDE5F5570B23}"/>
                </a:ext>
              </a:extLst>
            </p:cNvPr>
            <p:cNvSpPr/>
            <p:nvPr/>
          </p:nvSpPr>
          <p:spPr bwMode="auto">
            <a:xfrm>
              <a:off x="4523422" y="5593709"/>
              <a:ext cx="1486659" cy="7018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state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file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3CF602-050C-6C57-5997-6C1D60E33F3B}"/>
                </a:ext>
              </a:extLst>
            </p:cNvPr>
            <p:cNvSpPr/>
            <p:nvPr/>
          </p:nvSpPr>
          <p:spPr bwMode="auto">
            <a:xfrm>
              <a:off x="7284140" y="5123426"/>
              <a:ext cx="1855140" cy="13883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deployment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B3DC1AF-6F79-EA42-6BAC-A4DF4950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4263" y="5216015"/>
              <a:ext cx="1807760" cy="12376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39408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EF11-8CA6-1A1B-891A-0C1AA8BE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Configuration Project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F04C-1EBE-07D9-3D15-90BFBD407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4800" y="1227439"/>
            <a:ext cx="8000998" cy="30623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 files added to Terraform configurations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providers.tf</a:t>
            </a:r>
            <a:r>
              <a:rPr lang="en-US" dirty="0"/>
              <a:t> used to indicate what provider(s) to use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variables.tf</a:t>
            </a:r>
            <a:r>
              <a:rPr lang="en-US" dirty="0"/>
              <a:t> used to define variables for </a:t>
            </a:r>
            <a:r>
              <a:rPr lang="en-US" dirty="0" err="1"/>
              <a:t>coniguration</a:t>
            </a:r>
            <a:endParaRPr lang="en-US" dirty="0"/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terraform.tfvars</a:t>
            </a:r>
            <a:r>
              <a:rPr lang="en-US" dirty="0"/>
              <a:t> used to assign variable values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main.tf</a:t>
            </a:r>
            <a:r>
              <a:rPr lang="en-US" dirty="0"/>
              <a:t> used to provision and manage resources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outputs.tf</a:t>
            </a:r>
            <a:r>
              <a:rPr lang="en-US" dirty="0"/>
              <a:t> used to retrieve and display resource properties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.terraform</a:t>
            </a:r>
            <a:r>
              <a:rPr lang="en-US" dirty="0"/>
              <a:t> folder created when you run </a:t>
            </a:r>
            <a:r>
              <a:rPr lang="en-US" sz="1800" b="1" dirty="0">
                <a:solidFill>
                  <a:srgbClr val="8A0000"/>
                </a:solidFill>
              </a:rPr>
              <a:t>terraform init</a:t>
            </a:r>
            <a:r>
              <a:rPr lang="en-US" dirty="0"/>
              <a:t> command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terraform.tfstate</a:t>
            </a:r>
            <a:r>
              <a:rPr lang="en-US" dirty="0"/>
              <a:t> created when you run </a:t>
            </a:r>
            <a:r>
              <a:rPr lang="en-US" sz="1800" b="1" dirty="0">
                <a:solidFill>
                  <a:srgbClr val="8A0000"/>
                </a:solidFill>
              </a:rPr>
              <a:t>terraform apply</a:t>
            </a:r>
            <a:r>
              <a:rPr lang="en-US" dirty="0"/>
              <a:t> command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C43B6-5BF2-8330-C380-82A56C26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7" y="1227439"/>
            <a:ext cx="3351345" cy="35477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07626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CAC52-B9EC-4C65-93B6-4FFA7500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Authenticating as a Service Principal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8D7595-2E49-6998-EA13-B374DDDA56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With Terraform, you can set service principal credentials at provider level</a:t>
            </a:r>
          </a:p>
          <a:p>
            <a:pPr lvl="1"/>
            <a:r>
              <a:rPr lang="en-US" dirty="0"/>
              <a:t>Include </a:t>
            </a:r>
            <a:r>
              <a:rPr lang="en-US" sz="1800" b="1" dirty="0">
                <a:solidFill>
                  <a:srgbClr val="8A0000"/>
                </a:solidFill>
              </a:rPr>
              <a:t>tenant_id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client_id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client_secret</a:t>
            </a:r>
            <a:r>
              <a:rPr lang="en-US" dirty="0"/>
              <a:t> to authenticate using client credential flow</a:t>
            </a:r>
          </a:p>
          <a:p>
            <a:pPr lvl="1"/>
            <a:r>
              <a:rPr lang="en-US" dirty="0"/>
              <a:t>Also possible to authenticate as managed identity for production scenarios</a:t>
            </a:r>
          </a:p>
          <a:p>
            <a:pPr lvl="1"/>
            <a:r>
              <a:rPr lang="en-US" dirty="0"/>
              <a:t>When creating Azure resources, you also need to supply Azure </a:t>
            </a:r>
            <a:r>
              <a:rPr lang="en-US" sz="1800" b="1" dirty="0" err="1">
                <a:solidFill>
                  <a:srgbClr val="8A0000"/>
                </a:solidFill>
              </a:rPr>
              <a:t>subscription_id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4B66D-D1F4-981A-3E16-01CEF9097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83" y="2917825"/>
            <a:ext cx="2898682" cy="3886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126563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77A7-D82F-DA72-F4D6-6F517D19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Fabric Workspace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7FA1B-32C6-2325-9F68-922474C1F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sz="2000" b="1" dirty="0" err="1">
                <a:solidFill>
                  <a:srgbClr val="8A0000"/>
                </a:solidFill>
              </a:rPr>
              <a:t>fabric_workspace</a:t>
            </a:r>
            <a:r>
              <a:rPr lang="en-US" dirty="0"/>
              <a:t> resource to create new workspace</a:t>
            </a:r>
          </a:p>
          <a:p>
            <a:pPr lvl="1"/>
            <a:r>
              <a:rPr lang="en-US" dirty="0"/>
              <a:t>You must provide values for </a:t>
            </a:r>
            <a:r>
              <a:rPr lang="en-US" sz="1800" b="1" dirty="0">
                <a:solidFill>
                  <a:srgbClr val="8A0000"/>
                </a:solidFill>
              </a:rPr>
              <a:t>display_name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capacity_id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 workspace role assignments using </a:t>
            </a:r>
            <a:r>
              <a:rPr lang="en-US" sz="1800" b="1" dirty="0" err="1">
                <a:solidFill>
                  <a:srgbClr val="8A0000"/>
                </a:solidFill>
              </a:rPr>
              <a:t>fabric_workspace_role_assignment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Also possible to add workspace items such as lakehouse using </a:t>
            </a:r>
            <a:r>
              <a:rPr lang="en-US" sz="1800" b="1" dirty="0" err="1">
                <a:solidFill>
                  <a:srgbClr val="8A0000"/>
                </a:solidFill>
              </a:rPr>
              <a:t>fabric_lakehouse</a:t>
            </a:r>
            <a:r>
              <a:rPr lang="en-US" dirty="0"/>
              <a:t> resource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3B810-82EB-28E5-643F-738C7B3C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05" y="2928753"/>
            <a:ext cx="3838232" cy="3951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701887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37BC-35FA-47DE-2807-4B7D07EB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Fabric Capacity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294D7-5D79-1156-AB87-CB5B2D430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92716"/>
          </a:xfrm>
        </p:spPr>
        <p:txBody>
          <a:bodyPr/>
          <a:lstStyle/>
          <a:p>
            <a:r>
              <a:rPr lang="en-US" dirty="0"/>
              <a:t>Fabric capacity created using </a:t>
            </a:r>
            <a:r>
              <a:rPr lang="en-US" sz="2000" b="1" dirty="0" err="1">
                <a:solidFill>
                  <a:srgbClr val="8A0000"/>
                </a:solidFill>
              </a:rPr>
              <a:t>azurerm_fabric_capacity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You must first create Azure resource group in which to create new capacity</a:t>
            </a:r>
          </a:p>
          <a:p>
            <a:pPr lvl="1"/>
            <a:r>
              <a:rPr lang="en-US" dirty="0"/>
              <a:t>You must provide valid capacity values for </a:t>
            </a:r>
            <a:r>
              <a:rPr lang="en-US" sz="1800" b="1" dirty="0">
                <a:solidFill>
                  <a:srgbClr val="8A0000"/>
                </a:solidFill>
              </a:rPr>
              <a:t>name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location</a:t>
            </a:r>
          </a:p>
          <a:p>
            <a:pPr lvl="1"/>
            <a:r>
              <a:rPr lang="en-US" sz="1800" dirty="0"/>
              <a:t>Creating new workspace using new capacity requires </a:t>
            </a:r>
            <a:r>
              <a:rPr lang="en-US" sz="1600" b="1" dirty="0" err="1">
                <a:solidFill>
                  <a:srgbClr val="8A0000"/>
                </a:solidFill>
              </a:rPr>
              <a:t>fabric_capacity</a:t>
            </a:r>
            <a:r>
              <a:rPr lang="en-US" sz="1800" dirty="0"/>
              <a:t> datasource to retrieve capacity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BDE4F-0FDB-7C44-9B06-96F4C730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23" y="2924545"/>
            <a:ext cx="4330308" cy="37586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CD6CF-1EF5-8F76-7E07-EC9F6F24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577" y="2924545"/>
            <a:ext cx="4562297" cy="31411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607922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8D4B-A0BE-CFBC-3218-DE7CB4A6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Azure Storage Account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F49A0-6B59-F5B1-D013-2EA327C9F8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Create Azure storage account using </a:t>
            </a:r>
            <a:r>
              <a:rPr lang="en-US" sz="2000" b="1" dirty="0" err="1">
                <a:solidFill>
                  <a:srgbClr val="8A0000"/>
                </a:solidFill>
              </a:rPr>
              <a:t>azurerm_storage_account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You must create Azure resource group in which to create new Azure storage account</a:t>
            </a:r>
          </a:p>
          <a:p>
            <a:pPr lvl="1"/>
            <a:r>
              <a:rPr lang="en-US" dirty="0"/>
              <a:t>You must provide valid values for </a:t>
            </a:r>
            <a:r>
              <a:rPr lang="en-US" sz="1800" b="1" dirty="0" err="1">
                <a:solidFill>
                  <a:srgbClr val="8A0000"/>
                </a:solidFill>
              </a:rPr>
              <a:t>account_tier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account_replication_type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 This sample also demonstrates adding a storage container and generating a SaS token</a:t>
            </a:r>
            <a:endParaRPr lang="en-US" sz="2000" b="1" dirty="0">
              <a:solidFill>
                <a:srgbClr val="8A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31E9D-31FA-ED45-56FB-74CB9A51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64" y="2996565"/>
            <a:ext cx="4214229" cy="2957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2BC40-5499-F821-C4C9-A8DC9E2C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726" y="2996565"/>
            <a:ext cx="5442785" cy="29452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271297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ECF5-03E5-1E5E-71DB-B741C655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ADLS Gen2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6C00A-00AD-9BDF-A689-E5C8142090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Fabric connections can be created using </a:t>
            </a:r>
            <a:r>
              <a:rPr lang="en-US" sz="2000" b="1" dirty="0">
                <a:solidFill>
                  <a:srgbClr val="8A0000"/>
                </a:solidFill>
              </a:rPr>
              <a:t>fabric_connection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Connection </a:t>
            </a:r>
            <a:r>
              <a:rPr lang="en-US" sz="1800" b="1" dirty="0">
                <a:solidFill>
                  <a:srgbClr val="8A0000"/>
                </a:solidFill>
              </a:rPr>
              <a:t>display_name</a:t>
            </a:r>
            <a:r>
              <a:rPr lang="en-US" dirty="0"/>
              <a:t> must be unique across all cloud connections within Entra Id tenant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connection_details</a:t>
            </a:r>
            <a:r>
              <a:rPr lang="en-US" sz="1800" dirty="0"/>
              <a:t> </a:t>
            </a:r>
            <a:r>
              <a:rPr lang="en-US" dirty="0"/>
              <a:t>includes connector-specific settings for </a:t>
            </a:r>
            <a:r>
              <a:rPr lang="en-US" sz="1800" b="1" dirty="0">
                <a:solidFill>
                  <a:srgbClr val="8A0000"/>
                </a:solidFill>
              </a:rPr>
              <a:t>type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creation_method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parameters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credential_details</a:t>
            </a:r>
            <a:r>
              <a:rPr lang="en-US" dirty="0"/>
              <a:t> include </a:t>
            </a:r>
            <a:r>
              <a:rPr lang="en-US" sz="1800" b="1" dirty="0">
                <a:solidFill>
                  <a:srgbClr val="8A0000"/>
                </a:solidFill>
              </a:rPr>
              <a:t>credential_type</a:t>
            </a:r>
            <a:r>
              <a:rPr lang="en-US" dirty="0"/>
              <a:t> and credentials specific to that credential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1BEF3-B3FE-8446-540F-BA881319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2" y="2935055"/>
            <a:ext cx="4261484" cy="3577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53825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2748-2258-8328-819E-30AC92C8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Connections in Fabric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FB0B8-162D-E357-4601-E2C5CB4E30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8" y="1217914"/>
            <a:ext cx="11604521" cy="2816156"/>
          </a:xfrm>
        </p:spPr>
        <p:txBody>
          <a:bodyPr/>
          <a:lstStyle/>
          <a:p>
            <a:r>
              <a:rPr lang="en-US" dirty="0"/>
              <a:t>Tenant-level scope makes it harder to manage connections than workspace items</a:t>
            </a:r>
          </a:p>
          <a:p>
            <a:pPr lvl="1"/>
            <a:r>
              <a:rPr lang="en-US" dirty="0"/>
              <a:t>Some connections are designed to be shared across workspaces</a:t>
            </a:r>
          </a:p>
          <a:p>
            <a:pPr lvl="1"/>
            <a:r>
              <a:rPr lang="en-US" dirty="0"/>
              <a:t>Some connections are only intended for use within a single workspace</a:t>
            </a:r>
          </a:p>
          <a:p>
            <a:pPr lvl="1"/>
            <a:r>
              <a:rPr lang="en-US" dirty="0"/>
              <a:t>Terraform provides easy way to track connections and manage their lifecycle</a:t>
            </a:r>
          </a:p>
          <a:p>
            <a:r>
              <a:rPr lang="en-US" dirty="0"/>
              <a:t>Adopting connection naming conventions assists maintenance, reuse and readability</a:t>
            </a:r>
          </a:p>
          <a:p>
            <a:pPr lvl="1"/>
            <a:r>
              <a:rPr lang="en-US" dirty="0"/>
              <a:t>Create display name using pattern such as [</a:t>
            </a:r>
            <a:r>
              <a:rPr lang="en-US" sz="1800" b="1" dirty="0">
                <a:solidFill>
                  <a:srgbClr val="8A0000"/>
                </a:solidFill>
              </a:rPr>
              <a:t>connector</a:t>
            </a:r>
            <a:r>
              <a:rPr lang="en-US" dirty="0"/>
              <a:t>]-[</a:t>
            </a:r>
            <a:r>
              <a:rPr lang="en-US" sz="1800" b="1" dirty="0">
                <a:solidFill>
                  <a:srgbClr val="8A0000"/>
                </a:solidFill>
              </a:rPr>
              <a:t>credential-type</a:t>
            </a:r>
            <a:r>
              <a:rPr lang="en-US" dirty="0"/>
              <a:t>]-[</a:t>
            </a:r>
            <a:r>
              <a:rPr lang="en-US" sz="1800" b="1" dirty="0">
                <a:solidFill>
                  <a:srgbClr val="8A0000"/>
                </a:solidFill>
              </a:rPr>
              <a:t>location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Adding workspace Id into display name used to indicate connection is only used in one workspace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558573-FB89-7D2B-5895-4BA75913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37" y="4225002"/>
            <a:ext cx="6367188" cy="24493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72399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F41C-FFE5-A7AC-1C5B-B858A49D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Cleanup of Workspace-specific Connection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B9318-C054-4EA7-5FDE-C8351151B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When you delete a workspace…</a:t>
            </a:r>
          </a:p>
          <a:p>
            <a:pPr lvl="1"/>
            <a:r>
              <a:rPr lang="en-US" dirty="0"/>
              <a:t>You can clean up by cascade deleting workspace-specific connections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5158A-DE20-5301-4B32-CA53141D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96" y="2229770"/>
            <a:ext cx="6449325" cy="2943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F5B4A9-4A26-E504-F696-5F95AB0F9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586" r="12097"/>
          <a:stretch>
            <a:fillRect/>
          </a:stretch>
        </p:blipFill>
        <p:spPr>
          <a:xfrm>
            <a:off x="6640449" y="3515550"/>
            <a:ext cx="4808976" cy="93471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753366-5B5C-46BD-192B-8FC74E8561B0}"/>
              </a:ext>
            </a:extLst>
          </p:cNvPr>
          <p:cNvCxnSpPr/>
          <p:nvPr/>
        </p:nvCxnSpPr>
        <p:spPr>
          <a:xfrm>
            <a:off x="5780532" y="4279639"/>
            <a:ext cx="923925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50935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AE88-0B70-8270-39DC-850D22D5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C96E8A7E-A81B-2165-1268-CA4A615F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6"/>
            <a:ext cx="11672047" cy="928011"/>
          </a:xfrm>
        </p:spPr>
        <p:txBody>
          <a:bodyPr/>
          <a:lstStyle/>
          <a:p>
            <a:r>
              <a:rPr lang="en-US" sz="4400" dirty="0"/>
              <a:t>Building a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7235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9E2B-2B7F-91CF-0236-22D700DD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Development Process for Continuous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9829A-AD7E-E316-BC4F-34753E5927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119076"/>
          </a:xfrm>
        </p:spPr>
        <p:txBody>
          <a:bodyPr/>
          <a:lstStyle/>
          <a:p>
            <a:r>
              <a:rPr lang="en-US" dirty="0"/>
              <a:t>Steps in building the development process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Get the solution up and running in the </a:t>
            </a:r>
            <a:r>
              <a:rPr lang="en-US" sz="16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variable library to parameterize environment-specific settings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and configure a GIT repository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Connect the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to GIT integration branch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feature branches and feature workspaces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Engage in development to create and update workspace items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pull requests to merges changes to the integration branch</a:t>
            </a:r>
          </a:p>
        </p:txBody>
      </p:sp>
    </p:spTree>
    <p:extLst>
      <p:ext uri="{BB962C8B-B14F-4D97-AF65-F5344CB8AC3E}">
        <p14:creationId xmlns:p14="http://schemas.microsoft.com/office/powerpoint/2010/main" val="133579515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9692-AE37-93CE-14AB-0CC1F77B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Variable Library for Parameterization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CB0C9-04A6-8CB3-B53E-3877D5110F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85542"/>
          </a:xfrm>
        </p:spPr>
        <p:txBody>
          <a:bodyPr/>
          <a:lstStyle/>
          <a:p>
            <a:r>
              <a:rPr lang="en-US" dirty="0"/>
              <a:t>Example 1 - parameterizing a datasource URL for a notebook</a:t>
            </a:r>
          </a:p>
          <a:p>
            <a:pPr lvl="1"/>
            <a:r>
              <a:rPr lang="en-US" dirty="0"/>
              <a:t>Variable library contains single variable name </a:t>
            </a:r>
            <a:r>
              <a:rPr lang="en-US" sz="1800" b="1" dirty="0" err="1">
                <a:solidFill>
                  <a:srgbClr val="8A0000"/>
                </a:solidFill>
              </a:rPr>
              <a:t>web_datasource_url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Variable library extended with two additional value sets named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</a:p>
          <a:p>
            <a:pPr lvl="1"/>
            <a:endParaRPr lang="en-US" sz="1800" b="1" dirty="0">
              <a:solidFill>
                <a:srgbClr val="8A0000"/>
              </a:solidFill>
            </a:endParaRPr>
          </a:p>
          <a:p>
            <a:endParaRPr lang="en-US" sz="2200" b="1" dirty="0">
              <a:solidFill>
                <a:srgbClr val="8A0000"/>
              </a:solidFill>
            </a:endParaRPr>
          </a:p>
          <a:p>
            <a:endParaRPr lang="en-US" sz="2200" b="1" dirty="0">
              <a:solidFill>
                <a:srgbClr val="8A0000"/>
              </a:solidFill>
            </a:endParaRPr>
          </a:p>
          <a:p>
            <a:r>
              <a:rPr lang="en-US" dirty="0"/>
              <a:t>Example 2 - parameterizing a ADLS Gen2 connection for shortcuts or pipelines</a:t>
            </a:r>
          </a:p>
          <a:p>
            <a:pPr lvl="1"/>
            <a:r>
              <a:rPr lang="en-US" dirty="0"/>
              <a:t>Contains variables with datasource paths as well as variable for </a:t>
            </a:r>
            <a:r>
              <a:rPr lang="en-US" sz="1800" b="1" dirty="0" err="1">
                <a:solidFill>
                  <a:srgbClr val="8A0000"/>
                </a:solidFill>
              </a:rPr>
              <a:t>connection_id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4B0E4-85DE-0D16-0CBE-F1597FFB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1" y="4752173"/>
            <a:ext cx="6390560" cy="1915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8497A-1727-4B14-797F-DE019B41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7"/>
          <a:stretch>
            <a:fillRect/>
          </a:stretch>
        </p:blipFill>
        <p:spPr>
          <a:xfrm>
            <a:off x="1112442" y="2552640"/>
            <a:ext cx="6487159" cy="10475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5726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3B1C-6214-F1FD-962E-23C5E2FF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variables in a notebook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7F8C4-1123-9150-05BC-687B35AEC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323713"/>
          </a:xfrm>
        </p:spPr>
        <p:txBody>
          <a:bodyPr/>
          <a:lstStyle/>
          <a:p>
            <a:r>
              <a:rPr lang="en-US" dirty="0"/>
              <a:t>Set active value set to match environment of target workspace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Notebook uses expression syntax of </a:t>
            </a:r>
            <a:r>
              <a:rPr lang="en-US" sz="1600" b="1" dirty="0">
                <a:solidFill>
                  <a:srgbClr val="8A0000"/>
                </a:solidFill>
              </a:rPr>
              <a:t>$(/**/ </a:t>
            </a:r>
            <a:r>
              <a:rPr 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{LIBRARY_NAME} </a:t>
            </a:r>
            <a:r>
              <a:rPr lang="en-US" sz="1600" b="1" dirty="0">
                <a:solidFill>
                  <a:srgbClr val="8A0000"/>
                </a:solidFill>
              </a:rPr>
              <a:t>/ </a:t>
            </a:r>
            <a:r>
              <a:rPr 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{VARIABLE_NAME} </a:t>
            </a:r>
            <a:r>
              <a:rPr lang="en-US" sz="1600" b="1" dirty="0">
                <a:solidFill>
                  <a:srgbClr val="8A0000"/>
                </a:solidFill>
              </a:rPr>
              <a:t>)</a:t>
            </a:r>
            <a:r>
              <a:rPr lang="en-US" dirty="0"/>
              <a:t> to read variable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97D8E-10A3-7061-408A-ED43F640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72" y="3688036"/>
            <a:ext cx="6970353" cy="2871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A0B18-029C-C0F7-2AB4-155675EAC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72" y="1744402"/>
            <a:ext cx="6329115" cy="12083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592550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454C-8E01-6290-F08E-9B8EA5B9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variables in a ADLS Gen2 shortcut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AE6A8-2167-4DE7-3C20-332A9372A2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54655"/>
          </a:xfrm>
        </p:spPr>
        <p:txBody>
          <a:bodyPr/>
          <a:lstStyle/>
          <a:p>
            <a:r>
              <a:rPr lang="en-US" dirty="0"/>
              <a:t>Using variables to create ADLS Gen2 shortcut</a:t>
            </a:r>
          </a:p>
          <a:p>
            <a:pPr lvl="1"/>
            <a:r>
              <a:rPr lang="en-US" dirty="0"/>
              <a:t>Variables required for ADLS server location, sub path and connection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Shortcut can be created by hand or by using </a:t>
            </a:r>
            <a:r>
              <a:rPr lang="en-US" sz="1800" b="1" dirty="0">
                <a:solidFill>
                  <a:srgbClr val="8A0000"/>
                </a:solidFill>
              </a:rPr>
              <a:t>Create Shortcut</a:t>
            </a:r>
            <a:r>
              <a:rPr lang="en-US" dirty="0"/>
              <a:t> API using variable expression syntax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B5440-9BCD-8D6C-E6DE-FA9B7536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66" y="4317421"/>
            <a:ext cx="5036555" cy="2397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C65068-428B-09EF-EC78-FF5EF2A7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67" y="2119895"/>
            <a:ext cx="4972684" cy="149037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90C6E3-6B21-8F45-92A2-BDE4A1A9033A}"/>
              </a:ext>
            </a:extLst>
          </p:cNvPr>
          <p:cNvGrpSpPr/>
          <p:nvPr/>
        </p:nvGrpSpPr>
        <p:grpSpPr>
          <a:xfrm>
            <a:off x="6746141" y="2157988"/>
            <a:ext cx="3330140" cy="1452279"/>
            <a:chOff x="6746141" y="2044983"/>
            <a:chExt cx="3493235" cy="15234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747CDC-7356-45AA-B668-102B8B482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6142" y="2331531"/>
              <a:ext cx="3493234" cy="12368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E248DA-0D8E-1449-C132-9FDAB8EA0E68}"/>
                </a:ext>
              </a:extLst>
            </p:cNvPr>
            <p:cNvSpPr/>
            <p:nvPr/>
          </p:nvSpPr>
          <p:spPr bwMode="auto">
            <a:xfrm>
              <a:off x="6746141" y="2044983"/>
              <a:ext cx="3493234" cy="28654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>
                      <a:lumMod val="75000"/>
                    </a:schemeClr>
                  </a:solidFill>
                  <a:latin typeface="+mj-lt"/>
                  <a:ea typeface="Segoe UI" pitchFamily="34" charset="0"/>
                  <a:cs typeface="Segoe UI" pitchFamily="34" charset="0"/>
                </a:rPr>
                <a:t>REMEMBER &gt; Connections must be created ahead of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5962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09280D3-92B0-0253-B594-B1949E7B039E}"/>
              </a:ext>
            </a:extLst>
          </p:cNvPr>
          <p:cNvSpPr/>
          <p:nvPr/>
        </p:nvSpPr>
        <p:spPr bwMode="auto">
          <a:xfrm>
            <a:off x="6244565" y="2890977"/>
            <a:ext cx="5326775" cy="3012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GitHub Repository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3FC65E-2B8F-DCA3-BC05-270AC57B6B03}"/>
              </a:ext>
            </a:extLst>
          </p:cNvPr>
          <p:cNvSpPr/>
          <p:nvPr/>
        </p:nvSpPr>
        <p:spPr bwMode="auto">
          <a:xfrm>
            <a:off x="511277" y="2890977"/>
            <a:ext cx="5326775" cy="30124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Dev Ops Project and Repository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0A230-1662-29CC-05A4-241B8642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AB887-EC56-13B0-6130-B956C2600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277273"/>
          </a:xfrm>
        </p:spPr>
        <p:txBody>
          <a:bodyPr/>
          <a:lstStyle/>
          <a:p>
            <a:r>
              <a:rPr lang="en-US" dirty="0"/>
              <a:t>Select a GIT provider supported by Fabric</a:t>
            </a:r>
          </a:p>
          <a:p>
            <a:pPr lvl="1"/>
            <a:r>
              <a:rPr lang="en-US" dirty="0"/>
              <a:t>Choose </a:t>
            </a:r>
            <a:r>
              <a:rPr lang="en-US" sz="1800" b="1" dirty="0">
                <a:solidFill>
                  <a:srgbClr val="8A0000"/>
                </a:solidFill>
              </a:rPr>
              <a:t>Azure DevOps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GitHub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GitHub Enterprise</a:t>
            </a:r>
            <a:endParaRPr lang="en-US" b="1" dirty="0">
              <a:solidFill>
                <a:srgbClr val="8A0000"/>
              </a:solidFill>
            </a:endParaRPr>
          </a:p>
          <a:p>
            <a:r>
              <a:rPr lang="en-US" dirty="0"/>
              <a:t>Create long-lived branches such as </a:t>
            </a:r>
            <a:r>
              <a:rPr lang="en-US" sz="2000" b="1" dirty="0">
                <a:solidFill>
                  <a:srgbClr val="8A0000"/>
                </a:solidFill>
              </a:rPr>
              <a:t>main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72A2-E720-CF0B-5729-D1CD7EB2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86" b="15781"/>
          <a:stretch>
            <a:fillRect/>
          </a:stretch>
        </p:blipFill>
        <p:spPr>
          <a:xfrm>
            <a:off x="641593" y="3043053"/>
            <a:ext cx="5002686" cy="2444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78363-88D1-8B7E-D0D8-B811FF132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601" y="3043053"/>
            <a:ext cx="5002686" cy="24445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533907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AB3A-883A-9A5D-FCAA-67C813F1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GIT Repository with Secrets and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0AC1-9F85-ED6F-87AF-5FE046B2ED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41639"/>
          </a:xfrm>
        </p:spPr>
        <p:txBody>
          <a:bodyPr/>
          <a:lstStyle/>
          <a:p>
            <a:r>
              <a:rPr lang="en-US" dirty="0"/>
              <a:t>Add secrets and variables that will be used by workflow code</a:t>
            </a:r>
          </a:p>
          <a:p>
            <a:pPr lvl="1"/>
            <a:r>
              <a:rPr lang="en-US" dirty="0"/>
              <a:t>Add secrets for authentication credentials</a:t>
            </a:r>
          </a:p>
          <a:p>
            <a:pPr lvl="1"/>
            <a:r>
              <a:rPr lang="en-US" dirty="0"/>
              <a:t>Add variables for the Ids of workspaces, capacities, users and Entra Id groups</a:t>
            </a:r>
          </a:p>
          <a:p>
            <a:pPr lvl="1"/>
            <a:r>
              <a:rPr lang="en-US" dirty="0"/>
              <a:t>Azure Dev Ops requires adding library to project to add variables and secrets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5BF159-7738-20F5-5EEA-E0D51D2937BC}"/>
              </a:ext>
            </a:extLst>
          </p:cNvPr>
          <p:cNvGrpSpPr/>
          <p:nvPr/>
        </p:nvGrpSpPr>
        <p:grpSpPr>
          <a:xfrm>
            <a:off x="1266050" y="3123387"/>
            <a:ext cx="9004398" cy="3487726"/>
            <a:chOff x="580250" y="2743199"/>
            <a:chExt cx="10483990" cy="40608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239FB8-F05E-3BCF-EDF1-F65565EF512E}"/>
                </a:ext>
              </a:extLst>
            </p:cNvPr>
            <p:cNvSpPr/>
            <p:nvPr/>
          </p:nvSpPr>
          <p:spPr bwMode="auto">
            <a:xfrm>
              <a:off x="5997679" y="2743199"/>
              <a:ext cx="5066561" cy="40608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GitHub Repository secretes and variables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32D22B-683F-4F61-2C15-3F0324F6E49C}"/>
                </a:ext>
              </a:extLst>
            </p:cNvPr>
            <p:cNvSpPr/>
            <p:nvPr/>
          </p:nvSpPr>
          <p:spPr bwMode="auto">
            <a:xfrm>
              <a:off x="580250" y="2743199"/>
              <a:ext cx="5257802" cy="40608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 Ops Library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EBC125-0526-BE95-895D-4587A19AF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877" y="2901177"/>
              <a:ext cx="4865396" cy="35380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B55448-E633-6A58-4810-52BE32235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1532" y="2910322"/>
              <a:ext cx="4683252" cy="34839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0654809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194D-3D67-F869-B6B1-FF4606D5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the GIT Repository with Workflows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F1F81-2792-6FD4-222B-12C65D37D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Develop workflow logic to control Fabric CI/CD lifecycles</a:t>
            </a:r>
          </a:p>
          <a:p>
            <a:pPr lvl="1"/>
            <a:r>
              <a:rPr lang="en-US" dirty="0"/>
              <a:t> With Azure Dev Ops, develop workflows using </a:t>
            </a:r>
            <a:r>
              <a:rPr lang="en-US" sz="1800" b="1" dirty="0">
                <a:solidFill>
                  <a:srgbClr val="8A0000"/>
                </a:solidFill>
              </a:rPr>
              <a:t>Azure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With GitHub, develop workflows using </a:t>
            </a:r>
            <a:r>
              <a:rPr lang="en-US" sz="1800" b="1" dirty="0">
                <a:solidFill>
                  <a:srgbClr val="8A0000"/>
                </a:solidFill>
              </a:rPr>
              <a:t>GitHub Workflow Actions</a:t>
            </a:r>
            <a:endParaRPr lang="en-US" b="1" dirty="0">
              <a:solidFill>
                <a:srgbClr val="8A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5615A2-7C5D-D574-3312-C7889FD68F9C}"/>
              </a:ext>
            </a:extLst>
          </p:cNvPr>
          <p:cNvGrpSpPr/>
          <p:nvPr/>
        </p:nvGrpSpPr>
        <p:grpSpPr>
          <a:xfrm>
            <a:off x="872859" y="2586807"/>
            <a:ext cx="4558678" cy="4083012"/>
            <a:chOff x="635114" y="2066543"/>
            <a:chExt cx="5216935" cy="467258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4417E4-CDD6-EDA1-2E50-0D72D7621EAC}"/>
                </a:ext>
              </a:extLst>
            </p:cNvPr>
            <p:cNvSpPr/>
            <p:nvPr/>
          </p:nvSpPr>
          <p:spPr bwMode="auto">
            <a:xfrm>
              <a:off x="635114" y="2066543"/>
              <a:ext cx="5216935" cy="467258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Pipelines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7FB354-5391-1C9F-5B92-432475C38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196"/>
            <a:stretch>
              <a:fillRect/>
            </a:stretch>
          </p:blipFill>
          <p:spPr>
            <a:xfrm>
              <a:off x="738479" y="2292198"/>
              <a:ext cx="4985665" cy="18471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AD078B-737D-9804-EB24-690358911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479" y="4303139"/>
              <a:ext cx="4985665" cy="20356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E31F6-8465-3C56-2BBD-9AF60746ABA6}"/>
              </a:ext>
            </a:extLst>
          </p:cNvPr>
          <p:cNvGrpSpPr/>
          <p:nvPr/>
        </p:nvGrpSpPr>
        <p:grpSpPr>
          <a:xfrm>
            <a:off x="5878807" y="2586807"/>
            <a:ext cx="4427277" cy="4083012"/>
            <a:chOff x="5997679" y="2066543"/>
            <a:chExt cx="5066561" cy="4672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7060E7-7D66-1840-C87A-41616C5B07F4}"/>
                </a:ext>
              </a:extLst>
            </p:cNvPr>
            <p:cNvSpPr/>
            <p:nvPr/>
          </p:nvSpPr>
          <p:spPr bwMode="auto">
            <a:xfrm>
              <a:off x="5997679" y="2066543"/>
              <a:ext cx="5066561" cy="46725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GitHub Workflow Actions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E9BE09-1E1E-406C-1F61-6D3772064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496"/>
            <a:stretch>
              <a:fillRect/>
            </a:stretch>
          </p:blipFill>
          <p:spPr>
            <a:xfrm>
              <a:off x="6142583" y="2292198"/>
              <a:ext cx="4729633" cy="18122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D53C6E-D222-6F02-13AB-5B1A665AE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953"/>
            <a:stretch>
              <a:fillRect/>
            </a:stretch>
          </p:blipFill>
          <p:spPr>
            <a:xfrm>
              <a:off x="6160873" y="4296295"/>
              <a:ext cx="4729633" cy="202224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5805704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300338-5CC0-4AEA-A0D5-C067D87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the dev workspace to integration branch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81C8B-17AA-1218-2D28-632BF8CF9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Fabric GIT integration enabled at workspace scope</a:t>
            </a:r>
          </a:p>
          <a:p>
            <a:pPr lvl="1"/>
            <a:r>
              <a:rPr lang="en-US" dirty="0"/>
              <a:t>Connect dev workspace to integration branch using GIT source control connection</a:t>
            </a:r>
          </a:p>
          <a:p>
            <a:pPr lvl="1"/>
            <a:r>
              <a:rPr lang="en-US" dirty="0"/>
              <a:t>Configure </a:t>
            </a:r>
            <a:r>
              <a:rPr lang="en-US" sz="1800" b="1" dirty="0">
                <a:solidFill>
                  <a:srgbClr val="8A0000"/>
                </a:solidFill>
              </a:rPr>
              <a:t>GIT folder</a:t>
            </a:r>
            <a:r>
              <a:rPr lang="en-US" dirty="0"/>
              <a:t> setting so item definition files are not added to root folder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D1714-520E-C81D-72B6-E3C2D770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39" y="2519834"/>
            <a:ext cx="3276539" cy="3008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1E882-D41C-BEDE-DF5F-E8F8B210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528" y="2519834"/>
            <a:ext cx="4197839" cy="3158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F544C2-953B-B6E2-FE4A-D9F9225101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29"/>
          <a:stretch>
            <a:fillRect/>
          </a:stretch>
        </p:blipFill>
        <p:spPr>
          <a:xfrm>
            <a:off x="9128456" y="2519834"/>
            <a:ext cx="2638459" cy="11904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22558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4F66-377A-812B-2F91-D2FF859E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GIT Source Control Connection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6ED8-BA77-C291-E87A-F47A6B9DF8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262979"/>
          </a:xfrm>
        </p:spPr>
        <p:txBody>
          <a:bodyPr/>
          <a:lstStyle/>
          <a:p>
            <a:r>
              <a:rPr lang="en-US" dirty="0"/>
              <a:t>Fabric provides GIT source control connectors for creating GIT connections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Azure Dev Ops - Source control</a:t>
            </a:r>
            <a:r>
              <a:rPr lang="en-US" dirty="0"/>
              <a:t> connection can be created using service principal credentials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GitHub - Source control</a:t>
            </a:r>
            <a:r>
              <a:rPr lang="en-US" dirty="0"/>
              <a:t> connection must be configured using a personal access token (PAT)</a:t>
            </a:r>
          </a:p>
          <a:p>
            <a:r>
              <a:rPr lang="en-US" dirty="0"/>
              <a:t>Source control connection configured with path to repository - not to specific branch</a:t>
            </a:r>
          </a:p>
          <a:p>
            <a:pPr lvl="1"/>
            <a:r>
              <a:rPr lang="en-US" dirty="0"/>
              <a:t>You can reuse a source control connection to connect many workspaces to branches in same repo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8A0000"/>
                </a:solidFill>
              </a:rPr>
              <a:t>BE AWARE:</a:t>
            </a:r>
            <a:r>
              <a:rPr lang="en-US" dirty="0"/>
              <a:t> connection credential identity will appear in GIT provider as the committer of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8A40C-A010-A449-4B19-18C8974E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55" y="3381447"/>
            <a:ext cx="7552562" cy="23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6826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E197-BAF8-B737-BD59-B91FC80D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GIT Source Control Connections using APIs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32913-7A4C-A68F-AC9F-78AE6923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5" y="1418045"/>
            <a:ext cx="5230368" cy="53869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ED244-0C1F-A0BC-3A72-CF96CE29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150" y="1389353"/>
            <a:ext cx="5668260" cy="54443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F40D4-6D5A-DFA6-F9BE-AD9D60958C36}"/>
              </a:ext>
            </a:extLst>
          </p:cNvPr>
          <p:cNvSpPr/>
          <p:nvPr/>
        </p:nvSpPr>
        <p:spPr bwMode="auto">
          <a:xfrm>
            <a:off x="512064" y="1078991"/>
            <a:ext cx="5230369" cy="3390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a connection to an Azzure Dev Ops repository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9BC00-EA70-A274-2FDF-E81D2C5C4318}"/>
              </a:ext>
            </a:extLst>
          </p:cNvPr>
          <p:cNvSpPr/>
          <p:nvPr/>
        </p:nvSpPr>
        <p:spPr bwMode="auto">
          <a:xfrm>
            <a:off x="6215060" y="1050300"/>
            <a:ext cx="5709349" cy="3390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a connection to a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08674721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AE27-F194-73BA-3715-15B2A712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a Workspace to GIT Branch using 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61EF7-6FDD-902B-EAB7-4BE8487D3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370701"/>
          </a:xfrm>
        </p:spPr>
        <p:txBody>
          <a:bodyPr/>
          <a:lstStyle/>
          <a:p>
            <a:r>
              <a:rPr lang="en-US" dirty="0"/>
              <a:t>Fabric REST APIs provides Connect API to connect workspace to a specific GIT branch</a:t>
            </a:r>
          </a:p>
          <a:p>
            <a:pPr lvl="1"/>
            <a:r>
              <a:rPr lang="en-US" dirty="0"/>
              <a:t>Connect request requires org name, provider type, repo name and branch name and git folder</a:t>
            </a:r>
          </a:p>
          <a:p>
            <a:pPr lvl="1"/>
            <a:r>
              <a:rPr lang="en-US" dirty="0"/>
              <a:t>Connecting to ADO repository requires project name in addition to repo name</a:t>
            </a:r>
          </a:p>
          <a:p>
            <a:pPr lvl="1"/>
            <a:r>
              <a:rPr lang="en-US" sz="1800" b="1" dirty="0" err="1">
                <a:solidFill>
                  <a:srgbClr val="8A0000"/>
                </a:solidFill>
              </a:rPr>
              <a:t>myGitCredentials</a:t>
            </a:r>
            <a:r>
              <a:rPr lang="en-US" dirty="0"/>
              <a:t> setting requires </a:t>
            </a:r>
            <a:r>
              <a:rPr lang="en-US" sz="1800" b="1" dirty="0">
                <a:solidFill>
                  <a:srgbClr val="8A0000"/>
                </a:solidFill>
              </a:rPr>
              <a:t>source</a:t>
            </a:r>
            <a:r>
              <a:rPr lang="en-US" dirty="0"/>
              <a:t> of </a:t>
            </a:r>
            <a:r>
              <a:rPr lang="en-US" sz="1800" b="1" dirty="0" err="1">
                <a:solidFill>
                  <a:srgbClr val="8A0000"/>
                </a:solidFill>
              </a:rPr>
              <a:t>ConfiguredConnection</a:t>
            </a:r>
            <a:r>
              <a:rPr lang="en-US" dirty="0"/>
              <a:t> and connection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CAVEAT</a:t>
            </a:r>
            <a:r>
              <a:rPr lang="en-US" dirty="0"/>
              <a:t>: GIT folder referenced with </a:t>
            </a:r>
            <a:r>
              <a:rPr lang="en-US" sz="1600" b="1" dirty="0" err="1">
                <a:solidFill>
                  <a:srgbClr val="8A0000"/>
                </a:solidFill>
              </a:rPr>
              <a:t>directoryName</a:t>
            </a:r>
            <a:r>
              <a:rPr lang="en-US" dirty="0"/>
              <a:t> setting must already exist or error occurs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821B72-B62E-3455-57C1-96CF3254C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553" y="3072386"/>
            <a:ext cx="5183232" cy="2851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46AE13-3E6A-FC04-B4DE-2B40DA9F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70" y="3048642"/>
            <a:ext cx="5114191" cy="28753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587785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C44D-1F03-3FFB-3567-3524C5A9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Flows for Feature Branches and Feature Workspaces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BE8DC-5F5D-FCAB-27C3-EEECD9084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047536"/>
          </a:xfrm>
        </p:spPr>
        <p:txBody>
          <a:bodyPr/>
          <a:lstStyle/>
          <a:p>
            <a:r>
              <a:rPr lang="en-US" dirty="0"/>
              <a:t>Connect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to integration branch and run </a:t>
            </a:r>
            <a:r>
              <a:rPr lang="en-US" sz="2000" b="1" dirty="0">
                <a:solidFill>
                  <a:srgbClr val="8A0000"/>
                </a:solidFill>
              </a:rPr>
              <a:t>Commit to GIT</a:t>
            </a:r>
            <a:r>
              <a:rPr lang="en-US" dirty="0"/>
              <a:t> action in one-time operation</a:t>
            </a:r>
          </a:p>
          <a:p>
            <a:pPr lvl="1"/>
            <a:r>
              <a:rPr lang="en-US" dirty="0"/>
              <a:t>This creates the single source of truth for a Fabric CI/CD project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Create feature workspace and then initialize it using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lvl="1"/>
            <a:r>
              <a:rPr lang="en-US" dirty="0"/>
              <a:t>Additional work usually required to prepare feature workspace for development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After updating workspace items, comment changes to GIT and create pull request</a:t>
            </a:r>
          </a:p>
          <a:p>
            <a:pPr lvl="1"/>
            <a:r>
              <a:rPr lang="en-US" dirty="0"/>
              <a:t>Workspace item changes committed to feature branch &amp; merged to integration branch</a:t>
            </a:r>
          </a:p>
          <a:p>
            <a:pPr lvl="1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6475CE-D796-0BF4-C78F-4909D9EC60BE}"/>
              </a:ext>
            </a:extLst>
          </p:cNvPr>
          <p:cNvGrpSpPr/>
          <p:nvPr/>
        </p:nvGrpSpPr>
        <p:grpSpPr>
          <a:xfrm>
            <a:off x="1098722" y="4042738"/>
            <a:ext cx="7216705" cy="770353"/>
            <a:chOff x="3970073" y="1876598"/>
            <a:chExt cx="7216705" cy="11638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834F1C-2D3B-A86F-E320-E7AFBBA23B40}"/>
                </a:ext>
              </a:extLst>
            </p:cNvPr>
            <p:cNvSpPr/>
            <p:nvPr/>
          </p:nvSpPr>
          <p:spPr bwMode="auto">
            <a:xfrm>
              <a:off x="3970073" y="1876598"/>
              <a:ext cx="1367244" cy="116389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5CE84B-6207-5294-81F3-8304D6198C9B}"/>
                </a:ext>
              </a:extLst>
            </p:cNvPr>
            <p:cNvSpPr/>
            <p:nvPr/>
          </p:nvSpPr>
          <p:spPr bwMode="auto">
            <a:xfrm>
              <a:off x="9819535" y="1876598"/>
              <a:ext cx="1367243" cy="1163894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921F3-77B3-37F2-ADC8-A8833B35139F}"/>
                </a:ext>
              </a:extLst>
            </p:cNvPr>
            <p:cNvSpPr/>
            <p:nvPr/>
          </p:nvSpPr>
          <p:spPr bwMode="auto">
            <a:xfrm>
              <a:off x="6886547" y="1876598"/>
              <a:ext cx="1367243" cy="1163895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" name="Arrow: Left 3">
              <a:extLst>
                <a:ext uri="{FF2B5EF4-FFF2-40B4-BE49-F238E27FC236}">
                  <a16:creationId xmlns:a16="http://schemas.microsoft.com/office/drawing/2014/main" id="{388F1D8F-B0DB-975F-9764-FB5180960B5B}"/>
                </a:ext>
              </a:extLst>
            </p:cNvPr>
            <p:cNvSpPr/>
            <p:nvPr/>
          </p:nvSpPr>
          <p:spPr bwMode="auto">
            <a:xfrm flipH="1">
              <a:off x="5337317" y="2152952"/>
              <a:ext cx="1470495" cy="61118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Branch</a:t>
              </a:r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A614433C-B07D-AE05-E43C-F65A09B7BEB5}"/>
                </a:ext>
              </a:extLst>
            </p:cNvPr>
            <p:cNvSpPr/>
            <p:nvPr/>
          </p:nvSpPr>
          <p:spPr bwMode="auto">
            <a:xfrm flipH="1">
              <a:off x="8253790" y="2152952"/>
              <a:ext cx="1470495" cy="61118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E9273FF-FABD-FF47-267A-ED9102F52FEC}"/>
              </a:ext>
            </a:extLst>
          </p:cNvPr>
          <p:cNvGrpSpPr/>
          <p:nvPr/>
        </p:nvGrpSpPr>
        <p:grpSpPr>
          <a:xfrm>
            <a:off x="1098722" y="2047721"/>
            <a:ext cx="4204983" cy="774435"/>
            <a:chOff x="1078475" y="2092590"/>
            <a:chExt cx="4204983" cy="9861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AED031A-64FC-AC7A-090D-142F6A43ABFC}"/>
                </a:ext>
              </a:extLst>
            </p:cNvPr>
            <p:cNvGrpSpPr/>
            <p:nvPr/>
          </p:nvGrpSpPr>
          <p:grpSpPr>
            <a:xfrm>
              <a:off x="1078475" y="2092590"/>
              <a:ext cx="2786112" cy="986100"/>
              <a:chOff x="830825" y="1873514"/>
              <a:chExt cx="2786112" cy="1170063"/>
            </a:xfrm>
          </p:grpSpPr>
          <p:sp>
            <p:nvSpPr>
              <p:cNvPr id="11" name="Arrow: Left 10">
                <a:extLst>
                  <a:ext uri="{FF2B5EF4-FFF2-40B4-BE49-F238E27FC236}">
                    <a16:creationId xmlns:a16="http://schemas.microsoft.com/office/drawing/2014/main" id="{7BCCC72B-8179-897B-93E8-18C3641EEBAC}"/>
                  </a:ext>
                </a:extLst>
              </p:cNvPr>
              <p:cNvSpPr/>
              <p:nvPr/>
            </p:nvSpPr>
            <p:spPr bwMode="auto">
              <a:xfrm flipH="1">
                <a:off x="2146442" y="2152952"/>
                <a:ext cx="1470495" cy="611186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rgbClr val="8A0000"/>
                    </a:solidFill>
                    <a:latin typeface="Arial Black" panose="020B0A04020102020204" pitchFamily="34" charset="0"/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B8A1F8C-63DF-D862-868C-348BA1779EAD}"/>
                  </a:ext>
                </a:extLst>
              </p:cNvPr>
              <p:cNvSpPr/>
              <p:nvPr/>
            </p:nvSpPr>
            <p:spPr bwMode="auto">
              <a:xfrm>
                <a:off x="830825" y="1873514"/>
                <a:ext cx="1367244" cy="1170063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BC068E-2A01-AB45-DA61-CD6E98982393}"/>
                </a:ext>
              </a:extLst>
            </p:cNvPr>
            <p:cNvSpPr/>
            <p:nvPr/>
          </p:nvSpPr>
          <p:spPr bwMode="auto">
            <a:xfrm>
              <a:off x="3916214" y="2092590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E66F97-7244-31AD-5CF9-FAE4FDCB1C59}"/>
              </a:ext>
            </a:extLst>
          </p:cNvPr>
          <p:cNvGrpSpPr/>
          <p:nvPr/>
        </p:nvGrpSpPr>
        <p:grpSpPr>
          <a:xfrm>
            <a:off x="1098722" y="6016361"/>
            <a:ext cx="7238490" cy="770354"/>
            <a:chOff x="1078475" y="5940392"/>
            <a:chExt cx="7238490" cy="98090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8B7820-8194-D53A-688B-5CFC4FBCB091}"/>
                </a:ext>
              </a:extLst>
            </p:cNvPr>
            <p:cNvSpPr/>
            <p:nvPr/>
          </p:nvSpPr>
          <p:spPr bwMode="auto">
            <a:xfrm>
              <a:off x="6949721" y="5940392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977298-3572-12E3-46CB-5ED21DC77840}"/>
                </a:ext>
              </a:extLst>
            </p:cNvPr>
            <p:cNvSpPr/>
            <p:nvPr/>
          </p:nvSpPr>
          <p:spPr bwMode="auto">
            <a:xfrm>
              <a:off x="1078475" y="5940394"/>
              <a:ext cx="1367243" cy="980901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3B6BC6-2CAE-9A14-6942-A6FD431375F2}"/>
                </a:ext>
              </a:extLst>
            </p:cNvPr>
            <p:cNvSpPr/>
            <p:nvPr/>
          </p:nvSpPr>
          <p:spPr bwMode="auto">
            <a:xfrm>
              <a:off x="4007207" y="5940392"/>
              <a:ext cx="1367243" cy="980902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B8474652-D851-B29B-1563-9E52DE3C84C7}"/>
                </a:ext>
              </a:extLst>
            </p:cNvPr>
            <p:cNvSpPr/>
            <p:nvPr/>
          </p:nvSpPr>
          <p:spPr bwMode="auto">
            <a:xfrm flipH="1">
              <a:off x="2457978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22" name="Arrow: Left 21">
              <a:extLst>
                <a:ext uri="{FF2B5EF4-FFF2-40B4-BE49-F238E27FC236}">
                  <a16:creationId xmlns:a16="http://schemas.microsoft.com/office/drawing/2014/main" id="{5622F83C-87E5-C8A2-63AD-9EEAE134BE35}"/>
                </a:ext>
              </a:extLst>
            </p:cNvPr>
            <p:cNvSpPr/>
            <p:nvPr/>
          </p:nvSpPr>
          <p:spPr bwMode="auto">
            <a:xfrm flipH="1">
              <a:off x="5374451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856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4FD1-3224-693E-FD60-8E9D8BD5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Feature Workspace by Hand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05170-7D5E-8FE0-DF3B-4EF38F93B1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You can create and configure feature workspaces by hand or by using APIs</a:t>
            </a:r>
          </a:p>
          <a:p>
            <a:pPr lvl="1"/>
            <a:r>
              <a:rPr lang="en-US" dirty="0"/>
              <a:t>Selective branch supported today through Fabric UI but not through APIs</a:t>
            </a:r>
          </a:p>
          <a:p>
            <a:pPr lvl="1"/>
            <a:r>
              <a:rPr lang="en-US" dirty="0"/>
              <a:t>API support for selective branch is underway and expected to release sometime later this year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1C37E9-ECD2-B935-8E23-64860CB3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49" y="2531752"/>
            <a:ext cx="2777247" cy="25034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8EFB5-3DEB-B577-D0B4-67F613AD5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871" y="2531752"/>
            <a:ext cx="2996291" cy="34269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A34956-ADA5-5F38-7B06-6D99D2B74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437" y="2531752"/>
            <a:ext cx="4025546" cy="4272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31872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8ADF-8A87-2047-1E06-521EE43D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Auto-bind behavior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E581-CAEE-DED1-9EDD-0146FE1D0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432256"/>
          </a:xfrm>
        </p:spPr>
        <p:txBody>
          <a:bodyPr/>
          <a:lstStyle/>
          <a:p>
            <a:r>
              <a:rPr lang="en-US" dirty="0"/>
              <a:t>Some workspace item types self-manage their relations to other workspace items</a:t>
            </a:r>
          </a:p>
          <a:p>
            <a:pPr lvl="1"/>
            <a:r>
              <a:rPr lang="en-US" dirty="0"/>
              <a:t>Pipelines support auto-binding behavior</a:t>
            </a:r>
          </a:p>
          <a:p>
            <a:pPr lvl="1"/>
            <a:r>
              <a:rPr lang="en-US" dirty="0"/>
              <a:t>Notebooks have not supported auto-binding behavior in the past - But that is about to change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you encounter workspace item types that do not support auto-binding…</a:t>
            </a:r>
          </a:p>
          <a:p>
            <a:pPr lvl="1"/>
            <a:r>
              <a:rPr lang="en-US" dirty="0"/>
              <a:t>required to run a post-sync job script to correctly reestablish relations to other workspace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2D0D2-83C0-F39D-6A3E-BE063E1B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26" y="2432781"/>
            <a:ext cx="7170709" cy="314509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A294F59-55CB-0714-DF8C-171DF0455DB3}"/>
              </a:ext>
            </a:extLst>
          </p:cNvPr>
          <p:cNvGrpSpPr/>
          <p:nvPr/>
        </p:nvGrpSpPr>
        <p:grpSpPr>
          <a:xfrm>
            <a:off x="8154664" y="2577307"/>
            <a:ext cx="3838302" cy="1976085"/>
            <a:chOff x="8344361" y="2965927"/>
            <a:chExt cx="3838302" cy="19760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7F7D582-1B56-CFF2-588D-7AF616692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2834"/>
            <a:stretch>
              <a:fillRect/>
            </a:stretch>
          </p:blipFill>
          <p:spPr>
            <a:xfrm>
              <a:off x="8344361" y="3316261"/>
              <a:ext cx="3838302" cy="16257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5CCDB-10C1-230F-8A5F-BD46951C0F56}"/>
                </a:ext>
              </a:extLst>
            </p:cNvPr>
            <p:cNvSpPr/>
            <p:nvPr/>
          </p:nvSpPr>
          <p:spPr bwMode="auto">
            <a:xfrm>
              <a:off x="8344361" y="2965927"/>
              <a:ext cx="3838302" cy="33905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Adding auto-binding support to notebook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71818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8F0C-715A-E3B3-5267-8F047755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Jobs After Update-from-GIT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A14B-D54F-BB6C-2863-9B8D5E45E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816156"/>
          </a:xfrm>
        </p:spPr>
        <p:txBody>
          <a:bodyPr/>
          <a:lstStyle/>
          <a:p>
            <a:r>
              <a:rPr lang="en-US" dirty="0"/>
              <a:t>After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completes, workspace items often require additional configuration</a:t>
            </a:r>
          </a:p>
          <a:p>
            <a:pPr lvl="1"/>
            <a:r>
              <a:rPr lang="en-US" dirty="0"/>
              <a:t>Run ETL jobs using notebooks, pipelines, copy jobs or dataflows</a:t>
            </a:r>
          </a:p>
          <a:p>
            <a:pPr lvl="1"/>
            <a:r>
              <a:rPr lang="en-US" dirty="0"/>
              <a:t>Updates required for workspace items that do not support auto-binding</a:t>
            </a:r>
          </a:p>
          <a:p>
            <a:pPr lvl="1"/>
            <a:r>
              <a:rPr lang="en-US" dirty="0"/>
              <a:t>Updates required for workspace items that do not support variable libraries</a:t>
            </a:r>
          </a:p>
          <a:p>
            <a:r>
              <a:rPr lang="en-US" dirty="0"/>
              <a:t>Jobs run after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 fall into two categories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run only once after an empty workspace is first initialized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run each time after an Update from GIT operation completes on a 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66234-375C-0397-BCFF-6446320E25EC}"/>
              </a:ext>
            </a:extLst>
          </p:cNvPr>
          <p:cNvSpPr/>
          <p:nvPr/>
        </p:nvSpPr>
        <p:spPr bwMode="auto">
          <a:xfrm>
            <a:off x="6224488" y="4168473"/>
            <a:ext cx="4318543" cy="2621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Scenario 2: sync dev workspace after 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789B8-ED02-1BE5-A6CF-F0CCBEA2E230}"/>
              </a:ext>
            </a:extLst>
          </p:cNvPr>
          <p:cNvSpPr/>
          <p:nvPr/>
        </p:nvSpPr>
        <p:spPr bwMode="auto">
          <a:xfrm>
            <a:off x="8989254" y="5751721"/>
            <a:ext cx="1344611" cy="6633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880936-9ECD-FBE1-507C-860E634FEB9F}"/>
              </a:ext>
            </a:extLst>
          </p:cNvPr>
          <p:cNvSpPr/>
          <p:nvPr/>
        </p:nvSpPr>
        <p:spPr bwMode="auto">
          <a:xfrm>
            <a:off x="6477611" y="4348761"/>
            <a:ext cx="1344610" cy="653647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0F5D7A2-7068-B9BC-3AE8-22CDB2D4565B}"/>
              </a:ext>
            </a:extLst>
          </p:cNvPr>
          <p:cNvSpPr/>
          <p:nvPr/>
        </p:nvSpPr>
        <p:spPr bwMode="auto">
          <a:xfrm flipH="1">
            <a:off x="7840359" y="5747237"/>
            <a:ext cx="1086801" cy="606100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4E19C-94F7-AEB7-BD68-2779BE63A66B}"/>
              </a:ext>
            </a:extLst>
          </p:cNvPr>
          <p:cNvSpPr/>
          <p:nvPr/>
        </p:nvSpPr>
        <p:spPr bwMode="auto">
          <a:xfrm>
            <a:off x="6477611" y="5752831"/>
            <a:ext cx="1344610" cy="663325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CE5C02-23D5-EC67-91DB-534D13B83EEA}"/>
              </a:ext>
            </a:extLst>
          </p:cNvPr>
          <p:cNvSpPr/>
          <p:nvPr/>
        </p:nvSpPr>
        <p:spPr bwMode="auto">
          <a:xfrm>
            <a:off x="8989254" y="4385744"/>
            <a:ext cx="1344611" cy="6633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D08881A-36F5-C3BE-18D9-12E3294CE134}"/>
              </a:ext>
            </a:extLst>
          </p:cNvPr>
          <p:cNvSpPr/>
          <p:nvPr/>
        </p:nvSpPr>
        <p:spPr bwMode="auto">
          <a:xfrm>
            <a:off x="6609929" y="5028664"/>
            <a:ext cx="1020915" cy="702653"/>
          </a:xfrm>
          <a:prstGeom prst="downArrow">
            <a:avLst>
              <a:gd name="adj1" fmla="val 67807"/>
              <a:gd name="adj2" fmla="val 50000"/>
            </a:avLst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to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43D5CDA8-71FB-FE65-A48F-0F5F56F6B7FE}"/>
              </a:ext>
            </a:extLst>
          </p:cNvPr>
          <p:cNvSpPr/>
          <p:nvPr/>
        </p:nvSpPr>
        <p:spPr bwMode="auto">
          <a:xfrm>
            <a:off x="9154104" y="5049070"/>
            <a:ext cx="1020915" cy="702653"/>
          </a:xfrm>
          <a:prstGeom prst="upArrow">
            <a:avLst/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from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C7475-A5E0-C0A7-BA01-18A55084CFCF}"/>
              </a:ext>
            </a:extLst>
          </p:cNvPr>
          <p:cNvSpPr/>
          <p:nvPr/>
        </p:nvSpPr>
        <p:spPr bwMode="auto">
          <a:xfrm>
            <a:off x="1250104" y="4182379"/>
            <a:ext cx="4318543" cy="2621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Scenario 1: creating a feature workspace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5106BA-C3AA-9714-B013-4401FAE8D2E5}"/>
              </a:ext>
            </a:extLst>
          </p:cNvPr>
          <p:cNvSpPr/>
          <p:nvPr/>
        </p:nvSpPr>
        <p:spPr bwMode="auto">
          <a:xfrm>
            <a:off x="3985404" y="5703920"/>
            <a:ext cx="1344611" cy="6633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22394-B7CC-4F39-0BFE-478C5F0ABD3A}"/>
              </a:ext>
            </a:extLst>
          </p:cNvPr>
          <p:cNvSpPr/>
          <p:nvPr/>
        </p:nvSpPr>
        <p:spPr bwMode="auto">
          <a:xfrm>
            <a:off x="1503226" y="4299850"/>
            <a:ext cx="1344610" cy="653647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7C8BDC4F-00B5-2697-4679-2337D4D31932}"/>
              </a:ext>
            </a:extLst>
          </p:cNvPr>
          <p:cNvSpPr/>
          <p:nvPr/>
        </p:nvSpPr>
        <p:spPr bwMode="auto">
          <a:xfrm>
            <a:off x="2862947" y="5747237"/>
            <a:ext cx="1020916" cy="584998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5C534F-78CD-9888-7AF2-44CFE54C9296}"/>
              </a:ext>
            </a:extLst>
          </p:cNvPr>
          <p:cNvSpPr/>
          <p:nvPr/>
        </p:nvSpPr>
        <p:spPr bwMode="auto">
          <a:xfrm>
            <a:off x="1503226" y="5703919"/>
            <a:ext cx="1344610" cy="663325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4B2D00-D4AC-20AF-C477-76C1BF447E9F}"/>
              </a:ext>
            </a:extLst>
          </p:cNvPr>
          <p:cNvSpPr/>
          <p:nvPr/>
        </p:nvSpPr>
        <p:spPr bwMode="auto">
          <a:xfrm>
            <a:off x="3897965" y="4336832"/>
            <a:ext cx="1344611" cy="6633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293FC32-E1E0-A2AC-C9A7-660F7A50ED06}"/>
              </a:ext>
            </a:extLst>
          </p:cNvPr>
          <p:cNvSpPr/>
          <p:nvPr/>
        </p:nvSpPr>
        <p:spPr bwMode="auto">
          <a:xfrm>
            <a:off x="4065217" y="5008798"/>
            <a:ext cx="1020915" cy="702653"/>
          </a:xfrm>
          <a:prstGeom prst="downArrow">
            <a:avLst>
              <a:gd name="adj1" fmla="val 67807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to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8E9CC8F8-91C6-6E06-459D-04AB32D35A7C}"/>
              </a:ext>
            </a:extLst>
          </p:cNvPr>
          <p:cNvSpPr/>
          <p:nvPr/>
        </p:nvSpPr>
        <p:spPr bwMode="auto">
          <a:xfrm>
            <a:off x="1665073" y="4971052"/>
            <a:ext cx="1020915" cy="702653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from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357205249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4E05-6C1A-111A-95ED-8825D0EB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Post-deploy Jobs versus Post-sync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D3D8C-4430-F673-BE51-8C3D20C87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85597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sz="22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that run each time after an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Rebind a notebook to a lakehouse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Update semantic model with external datasource path with environment-specific settings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Update DirectLake semantic model datasource to reference lakehouse in same workspace</a:t>
            </a:r>
          </a:p>
          <a:p>
            <a:pPr lvl="1"/>
            <a:endParaRPr lang="en-US" dirty="0"/>
          </a:p>
          <a:p>
            <a:r>
              <a:rPr lang="en-US" dirty="0"/>
              <a:t>Examples of </a:t>
            </a:r>
            <a:r>
              <a:rPr lang="en-US" sz="22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that run only once after workspace is first initialized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Process ETL jobs by running notebooks, pipelines, copy jobs, dataflows, etc.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Call </a:t>
            </a:r>
            <a:r>
              <a:rPr lang="en-US" sz="1800" b="1" dirty="0">
                <a:solidFill>
                  <a:srgbClr val="8A0000"/>
                </a:solidFill>
              </a:rPr>
              <a:t>Refresh </a:t>
            </a:r>
            <a:r>
              <a:rPr lang="en-US" sz="1800" b="1" dirty="0" err="1">
                <a:solidFill>
                  <a:srgbClr val="8A0000"/>
                </a:solidFill>
              </a:rPr>
              <a:t>Sql</a:t>
            </a:r>
            <a:r>
              <a:rPr lang="en-US" sz="1800" b="1" dirty="0">
                <a:solidFill>
                  <a:srgbClr val="8A0000"/>
                </a:solidFill>
              </a:rPr>
              <a:t> Endpoint Metadata</a:t>
            </a:r>
            <a:r>
              <a:rPr lang="en-US" dirty="0"/>
              <a:t> API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Create a connection for each semantic model and then bind connection to semantic model</a:t>
            </a:r>
          </a:p>
        </p:txBody>
      </p:sp>
    </p:spTree>
    <p:extLst>
      <p:ext uri="{BB962C8B-B14F-4D97-AF65-F5344CB8AC3E}">
        <p14:creationId xmlns:p14="http://schemas.microsoft.com/office/powerpoint/2010/main" val="213143650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0706-1360-5073-2361-54D8DEA6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93F4-3AE7-35C9-AD43-48538360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Feature Workspace using 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A1433-47BE-A5BE-4007-337C8B6812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You can write scripts to create and configure feature workspaces</a:t>
            </a:r>
          </a:p>
          <a:p>
            <a:pPr lvl="1"/>
            <a:r>
              <a:rPr lang="en-US" dirty="0"/>
              <a:t>You can prepare workspace for dev work by running ETL jobs and connecting semantic models</a:t>
            </a:r>
          </a:p>
          <a:p>
            <a:pPr lvl="1"/>
            <a:r>
              <a:rPr lang="en-US" dirty="0"/>
              <a:t>You can deal with environment-specific settings that have been persisted into GIT branch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6607D-8232-669B-7CC5-706D8349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17" y="2482584"/>
            <a:ext cx="6375580" cy="4424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6897085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0EB7341-7AB7-CEAD-79A0-0BBF46CC40F1}"/>
              </a:ext>
            </a:extLst>
          </p:cNvPr>
          <p:cNvSpPr/>
          <p:nvPr/>
        </p:nvSpPr>
        <p:spPr bwMode="auto">
          <a:xfrm>
            <a:off x="4123684" y="4178772"/>
            <a:ext cx="5001266" cy="266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Cloud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5F9029-2F97-31A6-1EF8-CEC1AAA0C7D8}"/>
              </a:ext>
            </a:extLst>
          </p:cNvPr>
          <p:cNvSpPr/>
          <p:nvPr/>
        </p:nvSpPr>
        <p:spPr bwMode="auto">
          <a:xfrm>
            <a:off x="901870" y="4178772"/>
            <a:ext cx="2736055" cy="262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Desktop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EA940F-5D90-10BB-7A25-454296BD6F5C}"/>
              </a:ext>
            </a:extLst>
          </p:cNvPr>
          <p:cNvSpPr/>
          <p:nvPr/>
        </p:nvSpPr>
        <p:spPr bwMode="auto">
          <a:xfrm>
            <a:off x="4502627" y="4339230"/>
            <a:ext cx="1367243" cy="740738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E143A-14FB-641D-5B13-429BBD26BA76}"/>
              </a:ext>
            </a:extLst>
          </p:cNvPr>
          <p:cNvSpPr/>
          <p:nvPr/>
        </p:nvSpPr>
        <p:spPr bwMode="auto">
          <a:xfrm>
            <a:off x="7493824" y="5676695"/>
            <a:ext cx="1367244" cy="7407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EBE3FF-A0D9-D5B3-9F2E-920148EB09E6}"/>
              </a:ext>
            </a:extLst>
          </p:cNvPr>
          <p:cNvSpPr/>
          <p:nvPr/>
        </p:nvSpPr>
        <p:spPr bwMode="auto">
          <a:xfrm>
            <a:off x="4502628" y="5676695"/>
            <a:ext cx="1367243" cy="740738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8370896F-3466-54FC-CF5F-9ADEA1DE36BA}"/>
              </a:ext>
            </a:extLst>
          </p:cNvPr>
          <p:cNvSpPr/>
          <p:nvPr/>
        </p:nvSpPr>
        <p:spPr bwMode="auto">
          <a:xfrm flipH="1">
            <a:off x="5917494" y="5756552"/>
            <a:ext cx="1470495" cy="581025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8DE5D-ACFE-B612-3D11-ACEF8983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in Workspace versus Edit Locally using Client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FF059-CACB-62EF-4166-63D01A925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8" y="1287425"/>
            <a:ext cx="11604521" cy="2816156"/>
          </a:xfrm>
        </p:spPr>
        <p:txBody>
          <a:bodyPr/>
          <a:lstStyle/>
          <a:p>
            <a:r>
              <a:rPr lang="en-US" dirty="0"/>
              <a:t>Development flow #1: </a:t>
            </a:r>
            <a:r>
              <a:rPr lang="en-US" sz="2000" b="1" dirty="0">
                <a:solidFill>
                  <a:srgbClr val="8A0000"/>
                </a:solidFill>
              </a:rPr>
              <a:t>Apply edits to workspace items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Development flow #2: </a:t>
            </a:r>
            <a:r>
              <a:rPr lang="en-US" sz="2000" b="1" dirty="0">
                <a:solidFill>
                  <a:srgbClr val="8A0000"/>
                </a:solidFill>
              </a:rPr>
              <a:t>Apply edits in local repo clone to item definitions using client tools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Clone repo to developer machine and edit item definitions locally using a client tool</a:t>
            </a:r>
          </a:p>
          <a:p>
            <a:pPr lvl="1"/>
            <a:r>
              <a:rPr lang="en-US" dirty="0"/>
              <a:t>Local changes pushed to remote repo synced to feature workspace using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6AA3F244-821B-2C8A-AEA5-96C09A01BC1A}"/>
              </a:ext>
            </a:extLst>
          </p:cNvPr>
          <p:cNvSpPr/>
          <p:nvPr/>
        </p:nvSpPr>
        <p:spPr bwMode="auto">
          <a:xfrm flipH="1">
            <a:off x="4904489" y="5071303"/>
            <a:ext cx="563520" cy="604003"/>
          </a:xfrm>
          <a:prstGeom prst="upArrow">
            <a:avLst>
              <a:gd name="adj1" fmla="val 74614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 Sync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13EE63-1F09-835C-E8DB-60E8DCFC5788}"/>
              </a:ext>
            </a:extLst>
          </p:cNvPr>
          <p:cNvGrpSpPr/>
          <p:nvPr/>
        </p:nvGrpSpPr>
        <p:grpSpPr>
          <a:xfrm>
            <a:off x="901870" y="1767416"/>
            <a:ext cx="7238490" cy="770354"/>
            <a:chOff x="1078475" y="5940392"/>
            <a:chExt cx="7238490" cy="98090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F8082C-5E55-73F2-7F19-3F4E38CEB2D0}"/>
                </a:ext>
              </a:extLst>
            </p:cNvPr>
            <p:cNvSpPr/>
            <p:nvPr/>
          </p:nvSpPr>
          <p:spPr bwMode="auto">
            <a:xfrm>
              <a:off x="6949721" y="5940392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0E2EF9-FDCE-EC86-193E-45766CDE6E0C}"/>
                </a:ext>
              </a:extLst>
            </p:cNvPr>
            <p:cNvSpPr/>
            <p:nvPr/>
          </p:nvSpPr>
          <p:spPr bwMode="auto">
            <a:xfrm>
              <a:off x="1078475" y="5940394"/>
              <a:ext cx="1367243" cy="980901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3C0CBB-3474-7E38-489D-5B93842D1E29}"/>
                </a:ext>
              </a:extLst>
            </p:cNvPr>
            <p:cNvSpPr/>
            <p:nvPr/>
          </p:nvSpPr>
          <p:spPr bwMode="auto">
            <a:xfrm>
              <a:off x="4007207" y="5940392"/>
              <a:ext cx="1367243" cy="980902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A3F333F7-6685-F956-99B2-0A4E0D97AC7B}"/>
                </a:ext>
              </a:extLst>
            </p:cNvPr>
            <p:cNvSpPr/>
            <p:nvPr/>
          </p:nvSpPr>
          <p:spPr bwMode="auto">
            <a:xfrm flipH="1">
              <a:off x="2457978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FAF765A2-05AB-6B18-51E6-8EA483E1DDE4}"/>
                </a:ext>
              </a:extLst>
            </p:cNvPr>
            <p:cNvSpPr/>
            <p:nvPr/>
          </p:nvSpPr>
          <p:spPr bwMode="auto">
            <a:xfrm flipH="1">
              <a:off x="5374451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465634-063D-A620-3C22-CEB7A8B1B741}"/>
              </a:ext>
            </a:extLst>
          </p:cNvPr>
          <p:cNvGrpSpPr/>
          <p:nvPr/>
        </p:nvGrpSpPr>
        <p:grpSpPr>
          <a:xfrm>
            <a:off x="1583050" y="5676695"/>
            <a:ext cx="2770010" cy="740738"/>
            <a:chOff x="1583050" y="5676695"/>
            <a:chExt cx="2770010" cy="74073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4C5D078-986E-61EE-5A77-463A0C2045ED}"/>
                </a:ext>
              </a:extLst>
            </p:cNvPr>
            <p:cNvSpPr/>
            <p:nvPr/>
          </p:nvSpPr>
          <p:spPr bwMode="auto">
            <a:xfrm>
              <a:off x="1583050" y="5676695"/>
              <a:ext cx="1367243" cy="740738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local clone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of branch</a:t>
              </a:r>
            </a:p>
          </p:txBody>
        </p:sp>
        <p:sp>
          <p:nvSpPr>
            <p:cNvPr id="34" name="Arrow: Left 33">
              <a:extLst>
                <a:ext uri="{FF2B5EF4-FFF2-40B4-BE49-F238E27FC236}">
                  <a16:creationId xmlns:a16="http://schemas.microsoft.com/office/drawing/2014/main" id="{0D7FD9A8-0C0F-3DD3-DBD0-BE0C5EEDD867}"/>
                </a:ext>
              </a:extLst>
            </p:cNvPr>
            <p:cNvSpPr/>
            <p:nvPr/>
          </p:nvSpPr>
          <p:spPr bwMode="auto">
            <a:xfrm>
              <a:off x="3111330" y="5891730"/>
              <a:ext cx="1241730" cy="270356"/>
            </a:xfrm>
            <a:prstGeom prst="leftArrow">
              <a:avLst>
                <a:gd name="adj1" fmla="val 77707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clone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A644E3E-7833-D4D7-6DEC-C4FD5292A46C}"/>
              </a:ext>
            </a:extLst>
          </p:cNvPr>
          <p:cNvGrpSpPr/>
          <p:nvPr/>
        </p:nvGrpSpPr>
        <p:grpSpPr>
          <a:xfrm>
            <a:off x="1100260" y="4288867"/>
            <a:ext cx="2332823" cy="1298117"/>
            <a:chOff x="1100260" y="4288867"/>
            <a:chExt cx="2332823" cy="129811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F37CC3-192C-29B8-036C-DE09F0CD1D20}"/>
                </a:ext>
              </a:extLst>
            </p:cNvPr>
            <p:cNvSpPr/>
            <p:nvPr/>
          </p:nvSpPr>
          <p:spPr bwMode="auto">
            <a:xfrm>
              <a:off x="1100260" y="4288867"/>
              <a:ext cx="1056076" cy="76406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VS Code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72550A-2F9D-9EA1-9140-5E1E1D11A746}"/>
                </a:ext>
              </a:extLst>
            </p:cNvPr>
            <p:cNvSpPr/>
            <p:nvPr/>
          </p:nvSpPr>
          <p:spPr bwMode="auto">
            <a:xfrm>
              <a:off x="2377007" y="4288867"/>
              <a:ext cx="1056076" cy="764061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Power BI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Desktop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1871815-CBD3-774A-9FE0-EA658FB93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7752" y="5079968"/>
              <a:ext cx="290922" cy="5070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47BAA8A-63B2-79E9-089B-5B77E13048B9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1628298" y="5052928"/>
              <a:ext cx="264984" cy="53231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Arrow: Left 41">
            <a:extLst>
              <a:ext uri="{FF2B5EF4-FFF2-40B4-BE49-F238E27FC236}">
                <a16:creationId xmlns:a16="http://schemas.microsoft.com/office/drawing/2014/main" id="{399C4DDF-341F-ABF7-AB26-6F0FBB570048}"/>
              </a:ext>
            </a:extLst>
          </p:cNvPr>
          <p:cNvSpPr/>
          <p:nvPr/>
        </p:nvSpPr>
        <p:spPr bwMode="auto">
          <a:xfrm flipH="1">
            <a:off x="3032132" y="5736395"/>
            <a:ext cx="1470495" cy="581025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Push Changes</a:t>
            </a:r>
          </a:p>
        </p:txBody>
      </p:sp>
    </p:spTree>
    <p:extLst>
      <p:ext uri="{BB962C8B-B14F-4D97-AF65-F5344CB8AC3E}">
        <p14:creationId xmlns:p14="http://schemas.microsoft.com/office/powerpoint/2010/main" val="34155414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17" grpId="0" animBg="1"/>
      <p:bldP spid="19" grpId="0" animBg="1"/>
      <p:bldP spid="20" grpId="0" animBg="1"/>
      <p:bldP spid="21" grpId="0" animBg="1"/>
      <p:bldP spid="7" grpId="0" animBg="1"/>
      <p:bldP spid="4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60D4-76C5-D930-D538-9D1DB8EF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Workflow To Keep the dev Workspace in Sync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74DAD-E95C-4AC4-E67E-9ACF56D5F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Workflow created with trigger to run upon pull request completion</a:t>
            </a:r>
          </a:p>
          <a:p>
            <a:pPr lvl="1"/>
            <a:r>
              <a:rPr lang="en-US" dirty="0"/>
              <a:t> Workflow runs after changes have been merged to integration branch</a:t>
            </a:r>
          </a:p>
          <a:p>
            <a:pPr lvl="1"/>
            <a:r>
              <a:rPr lang="en-US" dirty="0"/>
              <a:t>Workflow starts by running Update from GIT operation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7042E-1009-A80C-7D1A-5FA49359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991" y="2598144"/>
            <a:ext cx="6049902" cy="4205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9CA8EC-31F3-8B66-9870-4EFA44C1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77" y="2598144"/>
            <a:ext cx="3272439" cy="1969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5844028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CACD-2B0A-F118-8331-BFE12B53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642459A4-2056-38B3-2A92-A5DF3A0F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6"/>
            <a:ext cx="11672047" cy="928011"/>
          </a:xfrm>
        </p:spPr>
        <p:txBody>
          <a:bodyPr/>
          <a:lstStyle/>
          <a:p>
            <a:r>
              <a:rPr lang="en-US" sz="4400" dirty="0"/>
              <a:t>Building a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49083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F28-0087-4CE3-D954-94C69CC5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</a:t>
            </a:r>
            <a:r>
              <a:rPr lang="en-US" dirty="0" err="1"/>
              <a:t>th</a:t>
            </a:r>
            <a:r>
              <a:rPr lang="en-US" dirty="0"/>
              <a:t> Release Process for Continuous </a:t>
            </a:r>
            <a:r>
              <a:rPr lang="en-US" dirty="0" err="1"/>
              <a:t>Intergation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A76A7-19C5-F2C7-92DA-4C1D437D0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555367"/>
          </a:xfrm>
        </p:spPr>
        <p:txBody>
          <a:bodyPr/>
          <a:lstStyle/>
          <a:p>
            <a:r>
              <a:rPr lang="en-US" dirty="0"/>
              <a:t>Release process built to deploy updates from integration branch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Deploy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for testing and, once approved, deploy to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</a:t>
            </a: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Choose between several common options for building a release process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1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deployment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2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GIT synchronization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3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GitFlow</a:t>
            </a:r>
            <a:r>
              <a:rPr lang="en-US" dirty="0"/>
              <a:t> branching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4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release flow</a:t>
            </a:r>
            <a:r>
              <a:rPr lang="en-US" dirty="0"/>
              <a:t> branching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F6FF3E-771F-AD12-8DA9-A4D141C3BF9C}"/>
              </a:ext>
            </a:extLst>
          </p:cNvPr>
          <p:cNvGrpSpPr/>
          <p:nvPr/>
        </p:nvGrpSpPr>
        <p:grpSpPr>
          <a:xfrm>
            <a:off x="1117091" y="2128558"/>
            <a:ext cx="6527293" cy="2437909"/>
            <a:chOff x="998219" y="2878366"/>
            <a:chExt cx="7734302" cy="28887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24531B-8FAA-C307-4FEC-40304229C0FC}"/>
                </a:ext>
              </a:extLst>
            </p:cNvPr>
            <p:cNvSpPr/>
            <p:nvPr/>
          </p:nvSpPr>
          <p:spPr bwMode="auto">
            <a:xfrm>
              <a:off x="998219" y="2878366"/>
              <a:ext cx="4869065" cy="288872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BFA2AE-6E8B-F0C4-2F82-B69C4D2DB2E2}"/>
                </a:ext>
              </a:extLst>
            </p:cNvPr>
            <p:cNvSpPr/>
            <p:nvPr/>
          </p:nvSpPr>
          <p:spPr bwMode="auto">
            <a:xfrm>
              <a:off x="6030031" y="2878366"/>
              <a:ext cx="2702490" cy="2888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1D54CF8-277F-4BEB-E10A-A083652D8FBA}"/>
                </a:ext>
              </a:extLst>
            </p:cNvPr>
            <p:cNvGrpSpPr/>
            <p:nvPr/>
          </p:nvGrpSpPr>
          <p:grpSpPr>
            <a:xfrm>
              <a:off x="1138108" y="4282427"/>
              <a:ext cx="3113579" cy="975768"/>
              <a:chOff x="1854618" y="1506117"/>
              <a:chExt cx="3443987" cy="13927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1427ECF-F91C-F61E-15D4-5CB4B90CAF10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28" name="Arrow: Right 27">
                  <a:extLst>
                    <a:ext uri="{FF2B5EF4-FFF2-40B4-BE49-F238E27FC236}">
                      <a16:creationId xmlns:a16="http://schemas.microsoft.com/office/drawing/2014/main" id="{64965567-A564-68F8-6FA2-0642CE64F363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1992BC9A-11CA-A82A-B31B-3DA93BB52652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1F49DBB-3951-A785-47EE-461125200325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1" name="Arrow: Left-Right 30">
                  <a:extLst>
                    <a:ext uri="{FF2B5EF4-FFF2-40B4-BE49-F238E27FC236}">
                      <a16:creationId xmlns:a16="http://schemas.microsoft.com/office/drawing/2014/main" id="{C1B792C2-4C61-5D18-7B98-DC805B171468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E6C7B83-4493-93C4-BD84-DA3FAB8F6AC0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7C943FE2-42F7-754A-0973-A3DAD9228796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3593FD3-BCBD-0A37-50AD-017B19A37F29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22AE5DC-A4B3-BCB1-075B-627C36C23375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566E8484-FBBA-A17A-D40D-95240201C7DE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26B5CE-F926-A859-8A17-8ECD52642020}"/>
                </a:ext>
              </a:extLst>
            </p:cNvPr>
            <p:cNvGrpSpPr/>
            <p:nvPr/>
          </p:nvGrpSpPr>
          <p:grpSpPr>
            <a:xfrm>
              <a:off x="4386498" y="3042990"/>
              <a:ext cx="1140078" cy="2247676"/>
              <a:chOff x="5239777" y="695739"/>
              <a:chExt cx="1261062" cy="2601961"/>
            </a:xfrm>
            <a:solidFill>
              <a:schemeClr val="accent4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2FC58EC-BEEE-93D2-88FB-C52735684308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integration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36E3131-54C9-6AB8-1DF2-DEF36C082EE7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60B77C76-058D-CEB1-096D-B3DE650A1955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5ADB22-F3D0-2ED8-5BFC-D77D05802E4E}"/>
                </a:ext>
              </a:extLst>
            </p:cNvPr>
            <p:cNvSpPr/>
            <p:nvPr/>
          </p:nvSpPr>
          <p:spPr bwMode="auto">
            <a:xfrm>
              <a:off x="7296447" y="3313589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F0663B9-0E17-F59C-7E02-0FADA95FA3EC}"/>
                </a:ext>
              </a:extLst>
            </p:cNvPr>
            <p:cNvSpPr/>
            <p:nvPr/>
          </p:nvSpPr>
          <p:spPr bwMode="auto">
            <a:xfrm>
              <a:off x="6149302" y="3780544"/>
              <a:ext cx="1027873" cy="92721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3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?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A59961-749A-AA76-8748-E630C5DB16C3}"/>
                </a:ext>
              </a:extLst>
            </p:cNvPr>
            <p:cNvSpPr/>
            <p:nvPr/>
          </p:nvSpPr>
          <p:spPr bwMode="auto">
            <a:xfrm>
              <a:off x="7296447" y="4371215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4413708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907D-20D1-1514-8462-548723B3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8C7C-C21C-5F7D-698D-2C8737E7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Release Process using Deployment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6ED71-EC59-1719-2845-56C78AF62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GIT integration for CI and deployment pipeline for CD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with </a:t>
            </a:r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dirty="0"/>
              <a:t>Workspace item changes moves across workspaces using deployment pipeline </a:t>
            </a:r>
            <a:r>
              <a:rPr lang="en-US" sz="1800" b="1" dirty="0">
                <a:solidFill>
                  <a:srgbClr val="8A0000"/>
                </a:solidFill>
              </a:rPr>
              <a:t>Deploy</a:t>
            </a:r>
            <a:r>
              <a:rPr lang="en-US" dirty="0"/>
              <a:t> action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E0FFD9-7992-6F28-5E0D-6A479BFF11FE}"/>
              </a:ext>
            </a:extLst>
          </p:cNvPr>
          <p:cNvGrpSpPr/>
          <p:nvPr/>
        </p:nvGrpSpPr>
        <p:grpSpPr>
          <a:xfrm>
            <a:off x="1088136" y="2981217"/>
            <a:ext cx="6007608" cy="2785869"/>
            <a:chOff x="1655064" y="2837691"/>
            <a:chExt cx="6592824" cy="333450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C7124B-3D74-F5C0-172C-6ABF71442944}"/>
                </a:ext>
              </a:extLst>
            </p:cNvPr>
            <p:cNvSpPr/>
            <p:nvPr/>
          </p:nvSpPr>
          <p:spPr bwMode="auto">
            <a:xfrm>
              <a:off x="1655064" y="2837691"/>
              <a:ext cx="6592824" cy="33345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A976C5-54C1-82F6-6A16-A22407627BAF}"/>
                </a:ext>
              </a:extLst>
            </p:cNvPr>
            <p:cNvGrpSpPr/>
            <p:nvPr/>
          </p:nvGrpSpPr>
          <p:grpSpPr>
            <a:xfrm>
              <a:off x="1789970" y="3032081"/>
              <a:ext cx="6278868" cy="1722505"/>
              <a:chOff x="4345542" y="2777855"/>
              <a:chExt cx="6278868" cy="18825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6ABD75-0ACF-05EA-77C8-6A3BF8E0CFE9}"/>
                  </a:ext>
                </a:extLst>
              </p:cNvPr>
              <p:cNvSpPr/>
              <p:nvPr/>
            </p:nvSpPr>
            <p:spPr bwMode="auto">
              <a:xfrm>
                <a:off x="4345542" y="3114012"/>
                <a:ext cx="6278868" cy="15463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0E8BD0E-879B-E129-C290-5758ADF264D8}"/>
                  </a:ext>
                </a:extLst>
              </p:cNvPr>
              <p:cNvSpPr/>
              <p:nvPr/>
            </p:nvSpPr>
            <p:spPr bwMode="auto">
              <a:xfrm>
                <a:off x="4345542" y="2777855"/>
                <a:ext cx="6278868" cy="33615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Deployment Pipeline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200BE-A4B3-F714-BF31-25D547A5E611}"/>
                </a:ext>
              </a:extLst>
            </p:cNvPr>
            <p:cNvSpPr/>
            <p:nvPr/>
          </p:nvSpPr>
          <p:spPr bwMode="auto">
            <a:xfrm>
              <a:off x="1894883" y="5129106"/>
              <a:ext cx="1140078" cy="878502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688C21-93A3-F33A-A811-407376E91974}"/>
                </a:ext>
              </a:extLst>
            </p:cNvPr>
            <p:cNvSpPr/>
            <p:nvPr/>
          </p:nvSpPr>
          <p:spPr bwMode="auto">
            <a:xfrm>
              <a:off x="1943526" y="3638496"/>
              <a:ext cx="1140078" cy="73755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D41071-4002-BBBD-6B3B-47E239275E8E}"/>
                </a:ext>
              </a:extLst>
            </p:cNvPr>
            <p:cNvSpPr/>
            <p:nvPr/>
          </p:nvSpPr>
          <p:spPr bwMode="auto">
            <a:xfrm>
              <a:off x="4212782" y="3638496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94448B-2666-0FD1-39D5-A51788E60CE9}"/>
                </a:ext>
              </a:extLst>
            </p:cNvPr>
            <p:cNvSpPr/>
            <p:nvPr/>
          </p:nvSpPr>
          <p:spPr bwMode="auto">
            <a:xfrm>
              <a:off x="6389894" y="3637128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22" name="Arrow: Left 21">
              <a:extLst>
                <a:ext uri="{FF2B5EF4-FFF2-40B4-BE49-F238E27FC236}">
                  <a16:creationId xmlns:a16="http://schemas.microsoft.com/office/drawing/2014/main" id="{FDDD173A-097D-C881-BC7D-56951B8055B3}"/>
                </a:ext>
              </a:extLst>
            </p:cNvPr>
            <p:cNvSpPr/>
            <p:nvPr/>
          </p:nvSpPr>
          <p:spPr bwMode="auto">
            <a:xfrm flipH="1">
              <a:off x="3179029" y="3694516"/>
              <a:ext cx="938328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23" name="Arrow: Up 22">
              <a:extLst>
                <a:ext uri="{FF2B5EF4-FFF2-40B4-BE49-F238E27FC236}">
                  <a16:creationId xmlns:a16="http://schemas.microsoft.com/office/drawing/2014/main" id="{624265DE-5FA6-D98D-7E16-C4CBE4FB0FF9}"/>
                </a:ext>
              </a:extLst>
            </p:cNvPr>
            <p:cNvSpPr/>
            <p:nvPr/>
          </p:nvSpPr>
          <p:spPr bwMode="auto">
            <a:xfrm>
              <a:off x="2139047" y="4383254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63FC887E-9FA1-91F5-DC0B-4C9D251F2BB7}"/>
                </a:ext>
              </a:extLst>
            </p:cNvPr>
            <p:cNvSpPr/>
            <p:nvPr/>
          </p:nvSpPr>
          <p:spPr bwMode="auto">
            <a:xfrm flipH="1">
              <a:off x="5415206" y="3675523"/>
              <a:ext cx="938328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007062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E0DD6F0-AF31-D1B8-EFB7-54CFE641D83C}"/>
              </a:ext>
            </a:extLst>
          </p:cNvPr>
          <p:cNvGrpSpPr/>
          <p:nvPr/>
        </p:nvGrpSpPr>
        <p:grpSpPr>
          <a:xfrm>
            <a:off x="1142033" y="3085195"/>
            <a:ext cx="6694375" cy="2888720"/>
            <a:chOff x="1361489" y="2554843"/>
            <a:chExt cx="6694375" cy="288872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54FCC9D-8532-18F0-D476-88821A1D8733}"/>
                </a:ext>
              </a:extLst>
            </p:cNvPr>
            <p:cNvSpPr/>
            <p:nvPr/>
          </p:nvSpPr>
          <p:spPr bwMode="auto">
            <a:xfrm>
              <a:off x="1361489" y="2554843"/>
              <a:ext cx="6694375" cy="2888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76C113-7EA8-C3D2-0162-D1EDE79EC86C}"/>
                </a:ext>
              </a:extLst>
            </p:cNvPr>
            <p:cNvSpPr/>
            <p:nvPr/>
          </p:nvSpPr>
          <p:spPr bwMode="auto">
            <a:xfrm>
              <a:off x="1621496" y="43189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30BC97-83F3-7D58-FB35-8BF814BE7E41}"/>
                </a:ext>
              </a:extLst>
            </p:cNvPr>
            <p:cNvSpPr/>
            <p:nvPr/>
          </p:nvSpPr>
          <p:spPr bwMode="auto">
            <a:xfrm>
              <a:off x="1621496" y="2734549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50D31E-885D-BC85-3E74-B7986A6AA364}"/>
                </a:ext>
              </a:extLst>
            </p:cNvPr>
            <p:cNvSpPr/>
            <p:nvPr/>
          </p:nvSpPr>
          <p:spPr bwMode="auto">
            <a:xfrm>
              <a:off x="4048682" y="43189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0EB86D-9A52-4187-7EC0-37E4A5E70041}"/>
                </a:ext>
              </a:extLst>
            </p:cNvPr>
            <p:cNvSpPr/>
            <p:nvPr/>
          </p:nvSpPr>
          <p:spPr bwMode="auto">
            <a:xfrm>
              <a:off x="4048682" y="2734549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8793AE-9EFD-9C73-440B-61F12D8B9085}"/>
                </a:ext>
              </a:extLst>
            </p:cNvPr>
            <p:cNvSpPr/>
            <p:nvPr/>
          </p:nvSpPr>
          <p:spPr bwMode="auto">
            <a:xfrm>
              <a:off x="6528667" y="43189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2F062B-0883-3FC3-6C76-5FC60C3267D6}"/>
                </a:ext>
              </a:extLst>
            </p:cNvPr>
            <p:cNvSpPr/>
            <p:nvPr/>
          </p:nvSpPr>
          <p:spPr bwMode="auto">
            <a:xfrm>
              <a:off x="6528667" y="2734549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C880A035-7AB5-882C-BBD9-5D3D417C70F4}"/>
                </a:ext>
              </a:extLst>
            </p:cNvPr>
            <p:cNvSpPr/>
            <p:nvPr/>
          </p:nvSpPr>
          <p:spPr bwMode="auto">
            <a:xfrm flipH="1">
              <a:off x="2802216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8" name="Arrow: Up 17">
              <a:extLst>
                <a:ext uri="{FF2B5EF4-FFF2-40B4-BE49-F238E27FC236}">
                  <a16:creationId xmlns:a16="http://schemas.microsoft.com/office/drawing/2014/main" id="{4084AF86-8F1D-F047-1EC1-342DB918EA73}"/>
                </a:ext>
              </a:extLst>
            </p:cNvPr>
            <p:cNvSpPr/>
            <p:nvPr/>
          </p:nvSpPr>
          <p:spPr bwMode="auto">
            <a:xfrm>
              <a:off x="1865661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19" name="Arrow: Up 18">
              <a:extLst>
                <a:ext uri="{FF2B5EF4-FFF2-40B4-BE49-F238E27FC236}">
                  <a16:creationId xmlns:a16="http://schemas.microsoft.com/office/drawing/2014/main" id="{1306EFA2-0F7A-F348-21F0-58B229CE7C15}"/>
                </a:ext>
              </a:extLst>
            </p:cNvPr>
            <p:cNvSpPr/>
            <p:nvPr/>
          </p:nvSpPr>
          <p:spPr bwMode="auto">
            <a:xfrm>
              <a:off x="4292847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20" name="Arrow: Left 19">
              <a:extLst>
                <a:ext uri="{FF2B5EF4-FFF2-40B4-BE49-F238E27FC236}">
                  <a16:creationId xmlns:a16="http://schemas.microsoft.com/office/drawing/2014/main" id="{147C6B21-CFBA-3BE5-49CE-DE164EF89E40}"/>
                </a:ext>
              </a:extLst>
            </p:cNvPr>
            <p:cNvSpPr/>
            <p:nvPr/>
          </p:nvSpPr>
          <p:spPr bwMode="auto">
            <a:xfrm flipH="1">
              <a:off x="5233963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21" name="Arrow: Up 20">
              <a:extLst>
                <a:ext uri="{FF2B5EF4-FFF2-40B4-BE49-F238E27FC236}">
                  <a16:creationId xmlns:a16="http://schemas.microsoft.com/office/drawing/2014/main" id="{15CBF609-A3A8-3D26-9EEF-1A81D39CE720}"/>
                </a:ext>
              </a:extLst>
            </p:cNvPr>
            <p:cNvSpPr/>
            <p:nvPr/>
          </p:nvSpPr>
          <p:spPr bwMode="auto">
            <a:xfrm>
              <a:off x="6772832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877EB7E4-9E37-753F-91AF-898F2E47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Release Process using GIT Sync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A7F62D8-9EC4-C688-2159-E8A7A1CEAB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GIT synchronization to publish changes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dirty="0"/>
              <a:t>All workspace kept in sync with underlying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dirty="0"/>
              <a:t>Workspace item changes moved across branches using pull request</a:t>
            </a:r>
          </a:p>
        </p:txBody>
      </p:sp>
    </p:spTree>
    <p:extLst>
      <p:ext uri="{BB962C8B-B14F-4D97-AF65-F5344CB8AC3E}">
        <p14:creationId xmlns:p14="http://schemas.microsoft.com/office/powerpoint/2010/main" val="3834323517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5EA-18FE-56CC-FD33-80E4A26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AC37-A8C3-6A1A-3030-7D1C6CEC2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provides ease-of-use deployment wrapper around Fabric REST APIs</a:t>
            </a:r>
          </a:p>
          <a:p>
            <a:pPr lvl="1"/>
            <a:r>
              <a:rPr lang="en-US" dirty="0"/>
              <a:t>Code-first designed allows for deployment from item definitions folder to target workspace</a:t>
            </a:r>
          </a:p>
          <a:p>
            <a:pPr lvl="1"/>
            <a:r>
              <a:rPr lang="en-US" dirty="0"/>
              <a:t>Built-in code automatically determines &amp; reestablishes dependencies between workspace items</a:t>
            </a:r>
          </a:p>
          <a:p>
            <a:pPr lvl="1"/>
            <a:r>
              <a:rPr lang="en-US" dirty="0"/>
              <a:t>Provides parameterization to deal with environment-specific settings persisted to GIT branch</a:t>
            </a:r>
          </a:p>
          <a:p>
            <a:pPr lvl="1"/>
            <a:r>
              <a:rPr lang="en-US" dirty="0"/>
              <a:t>Provides best practice for building API-driven release process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8CE9-B258-AE4E-DD1E-354B7A54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90" y="3218791"/>
            <a:ext cx="9717352" cy="2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8907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3EAD-A9FE-AD69-780E-10430C45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Configuration-based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FC3AD-F598-869A-9695-6DB097549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908215"/>
          </a:xfrm>
        </p:spPr>
        <p:txBody>
          <a:bodyPr/>
          <a:lstStyle/>
          <a:p>
            <a:r>
              <a:rPr lang="en-US" dirty="0"/>
              <a:t>Using configuration-based deployment is recommended with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You must create YAML file (e.g. </a:t>
            </a:r>
            <a:r>
              <a:rPr lang="en-US" sz="1800" b="1" dirty="0" err="1">
                <a:solidFill>
                  <a:srgbClr val="8A0000"/>
                </a:solidFill>
              </a:rPr>
              <a:t>deploy.yml</a:t>
            </a:r>
            <a:r>
              <a:rPr lang="en-US" dirty="0"/>
              <a:t>) containing basic deployment information</a:t>
            </a:r>
          </a:p>
          <a:p>
            <a:pPr lvl="1"/>
            <a:r>
              <a:rPr lang="en-US" dirty="0"/>
              <a:t>Deployment configures environments such as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as deployment targets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automatically activates value set in variable library if name matches environment name</a:t>
            </a:r>
          </a:p>
          <a:p>
            <a:pPr lvl="1"/>
            <a:r>
              <a:rPr lang="en-US" dirty="0"/>
              <a:t>Older style of calling </a:t>
            </a:r>
            <a:r>
              <a:rPr lang="en-US" sz="1800" b="1" dirty="0">
                <a:solidFill>
                  <a:srgbClr val="8A0000"/>
                </a:solidFill>
              </a:rPr>
              <a:t>publish_all_items</a:t>
            </a:r>
            <a:r>
              <a:rPr lang="en-US" dirty="0">
                <a:solidFill>
                  <a:srgbClr val="8A0000"/>
                </a:solidFill>
              </a:rPr>
              <a:t> </a:t>
            </a:r>
            <a:r>
              <a:rPr lang="en-US" dirty="0"/>
              <a:t>still supported for backwards compatibility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4CDB9-CC78-DDBE-78D3-AB353DD4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56" y="3399592"/>
            <a:ext cx="3867019" cy="3242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03CF20-8B5B-821C-FB54-267EC6FF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90" y="3399592"/>
            <a:ext cx="5162730" cy="30852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7606991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4F02-8C69-C9A1-659F-0818B4AC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3: Release Process using fabric-cicd and </a:t>
            </a:r>
            <a:r>
              <a:rPr lang="en-US" dirty="0" err="1"/>
              <a:t>GitFlow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D563-D6C4-1F0F-37F2-9DBE46534C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to deploy changes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with underlying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workspaces kept in sync with underlying branch using </a:t>
            </a:r>
            <a:r>
              <a:rPr lang="en-US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1374A4-E855-99DB-FA9B-C049795F99AE}"/>
              </a:ext>
            </a:extLst>
          </p:cNvPr>
          <p:cNvGrpSpPr/>
          <p:nvPr/>
        </p:nvGrpSpPr>
        <p:grpSpPr>
          <a:xfrm>
            <a:off x="1097139" y="3039291"/>
            <a:ext cx="6694375" cy="3379797"/>
            <a:chOff x="1353171" y="2097459"/>
            <a:chExt cx="6694375" cy="3379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357DDC-D94A-5598-16E5-D0D5CD6DBB3D}"/>
                </a:ext>
              </a:extLst>
            </p:cNvPr>
            <p:cNvSpPr/>
            <p:nvPr/>
          </p:nvSpPr>
          <p:spPr bwMode="auto">
            <a:xfrm>
              <a:off x="1353171" y="2097459"/>
              <a:ext cx="6694375" cy="33797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70794-F14D-7592-7801-720FBA1FC3FC}"/>
                </a:ext>
              </a:extLst>
            </p:cNvPr>
            <p:cNvSpPr/>
            <p:nvPr/>
          </p:nvSpPr>
          <p:spPr bwMode="auto">
            <a:xfrm>
              <a:off x="1621496" y="43189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DD4CE9-42EA-3672-E61A-31AF136AE83D}"/>
                </a:ext>
              </a:extLst>
            </p:cNvPr>
            <p:cNvSpPr/>
            <p:nvPr/>
          </p:nvSpPr>
          <p:spPr bwMode="auto">
            <a:xfrm>
              <a:off x="1621496" y="2341357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8A7DA-43F2-53CB-E9B9-6189C3D47563}"/>
                </a:ext>
              </a:extLst>
            </p:cNvPr>
            <p:cNvSpPr/>
            <p:nvPr/>
          </p:nvSpPr>
          <p:spPr bwMode="auto">
            <a:xfrm>
              <a:off x="4048682" y="43189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C6DD17-48E8-B467-CEFE-8CEFD39B542C}"/>
                </a:ext>
              </a:extLst>
            </p:cNvPr>
            <p:cNvSpPr/>
            <p:nvPr/>
          </p:nvSpPr>
          <p:spPr bwMode="auto">
            <a:xfrm>
              <a:off x="4048682" y="2341357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C4D5D3-C17E-43D4-0F4D-8C7198EE17EA}"/>
                </a:ext>
              </a:extLst>
            </p:cNvPr>
            <p:cNvSpPr/>
            <p:nvPr/>
          </p:nvSpPr>
          <p:spPr bwMode="auto">
            <a:xfrm>
              <a:off x="6528667" y="43189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61AE9C-746F-39DA-213F-0CAC3BBD1888}"/>
                </a:ext>
              </a:extLst>
            </p:cNvPr>
            <p:cNvSpPr/>
            <p:nvPr/>
          </p:nvSpPr>
          <p:spPr bwMode="auto">
            <a:xfrm>
              <a:off x="6528667" y="2341357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1" name="Arrow: Left 10">
              <a:extLst>
                <a:ext uri="{FF2B5EF4-FFF2-40B4-BE49-F238E27FC236}">
                  <a16:creationId xmlns:a16="http://schemas.microsoft.com/office/drawing/2014/main" id="{72E1B834-6ECA-DB09-0AF7-2512D8C1C9B7}"/>
                </a:ext>
              </a:extLst>
            </p:cNvPr>
            <p:cNvSpPr/>
            <p:nvPr/>
          </p:nvSpPr>
          <p:spPr bwMode="auto">
            <a:xfrm flipH="1">
              <a:off x="2802216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D18657CF-6F01-9E0D-C578-E1A8690EEF11}"/>
                </a:ext>
              </a:extLst>
            </p:cNvPr>
            <p:cNvSpPr/>
            <p:nvPr/>
          </p:nvSpPr>
          <p:spPr bwMode="auto">
            <a:xfrm flipH="1">
              <a:off x="5233963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B3A24F4F-0E5B-29FE-5733-B0E87B0B4C61}"/>
                </a:ext>
              </a:extLst>
            </p:cNvPr>
            <p:cNvSpPr/>
            <p:nvPr/>
          </p:nvSpPr>
          <p:spPr bwMode="auto">
            <a:xfrm rot="16200000" flipH="1">
              <a:off x="6475494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53AEDB03-633D-8470-2115-BABBF238B4A4}"/>
                </a:ext>
              </a:extLst>
            </p:cNvPr>
            <p:cNvSpPr/>
            <p:nvPr/>
          </p:nvSpPr>
          <p:spPr bwMode="auto">
            <a:xfrm rot="16200000" flipH="1">
              <a:off x="1585552" y="3346849"/>
              <a:ext cx="1211965" cy="704133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 from GIT</a:t>
              </a:r>
            </a:p>
          </p:txBody>
        </p:sp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FCA78167-D21E-97D2-5448-5563345C592B}"/>
                </a:ext>
              </a:extLst>
            </p:cNvPr>
            <p:cNvSpPr/>
            <p:nvPr/>
          </p:nvSpPr>
          <p:spPr bwMode="auto">
            <a:xfrm rot="16200000" flipH="1">
              <a:off x="3993377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914204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C2E20-308B-9F13-D927-375724CF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0B83-62D7-3681-4609-D3AA9BB5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3: Release Process using fabric-cicd and </a:t>
            </a:r>
            <a:r>
              <a:rPr lang="en-US" dirty="0" err="1"/>
              <a:t>GitFlow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4A5F-3B46-45FE-A10B-C37849DEDA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to deploy changes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with underlying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workspaces kept in sync with underlying branch using </a:t>
            </a:r>
            <a:r>
              <a:rPr lang="en-US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1CCA35-B257-627D-8F7E-4775AEC43034}"/>
              </a:ext>
            </a:extLst>
          </p:cNvPr>
          <p:cNvGrpSpPr/>
          <p:nvPr/>
        </p:nvGrpSpPr>
        <p:grpSpPr>
          <a:xfrm>
            <a:off x="1097140" y="3039291"/>
            <a:ext cx="4965910" cy="2507145"/>
            <a:chOff x="1353171" y="2097459"/>
            <a:chExt cx="6694375" cy="3379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940E88-6466-9F07-8ACB-808EFB44E687}"/>
                </a:ext>
              </a:extLst>
            </p:cNvPr>
            <p:cNvSpPr/>
            <p:nvPr/>
          </p:nvSpPr>
          <p:spPr bwMode="auto">
            <a:xfrm>
              <a:off x="1353171" y="2097459"/>
              <a:ext cx="6694375" cy="33797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B395C5-D49F-A744-4265-C42B1317CC66}"/>
                </a:ext>
              </a:extLst>
            </p:cNvPr>
            <p:cNvSpPr/>
            <p:nvPr/>
          </p:nvSpPr>
          <p:spPr bwMode="auto">
            <a:xfrm>
              <a:off x="1621496" y="43189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3F6577-EDE7-E95D-E6D8-389FED1F1BD7}"/>
                </a:ext>
              </a:extLst>
            </p:cNvPr>
            <p:cNvSpPr/>
            <p:nvPr/>
          </p:nvSpPr>
          <p:spPr bwMode="auto">
            <a:xfrm>
              <a:off x="1621496" y="2341357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46448D-96D8-28AA-9436-8465BE72BA97}"/>
                </a:ext>
              </a:extLst>
            </p:cNvPr>
            <p:cNvSpPr/>
            <p:nvPr/>
          </p:nvSpPr>
          <p:spPr bwMode="auto">
            <a:xfrm>
              <a:off x="4048682" y="43189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475E71-E493-A8C6-9F68-7C8BFC87E718}"/>
                </a:ext>
              </a:extLst>
            </p:cNvPr>
            <p:cNvSpPr/>
            <p:nvPr/>
          </p:nvSpPr>
          <p:spPr bwMode="auto">
            <a:xfrm>
              <a:off x="4048682" y="2341357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4C2152-3AFB-A42A-9C00-C00DCE501DD6}"/>
                </a:ext>
              </a:extLst>
            </p:cNvPr>
            <p:cNvSpPr/>
            <p:nvPr/>
          </p:nvSpPr>
          <p:spPr bwMode="auto">
            <a:xfrm>
              <a:off x="6528667" y="43189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878E6D-85D7-F8A2-06F8-9AE8D755EF2E}"/>
                </a:ext>
              </a:extLst>
            </p:cNvPr>
            <p:cNvSpPr/>
            <p:nvPr/>
          </p:nvSpPr>
          <p:spPr bwMode="auto">
            <a:xfrm>
              <a:off x="6528667" y="2341357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1" name="Arrow: Left 10">
              <a:extLst>
                <a:ext uri="{FF2B5EF4-FFF2-40B4-BE49-F238E27FC236}">
                  <a16:creationId xmlns:a16="http://schemas.microsoft.com/office/drawing/2014/main" id="{2C5F9874-6BC2-3A02-9328-0FA4E1AEA058}"/>
                </a:ext>
              </a:extLst>
            </p:cNvPr>
            <p:cNvSpPr/>
            <p:nvPr/>
          </p:nvSpPr>
          <p:spPr bwMode="auto">
            <a:xfrm flipH="1">
              <a:off x="2802216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4609EA7B-C851-22A8-DD9F-915739FEA610}"/>
                </a:ext>
              </a:extLst>
            </p:cNvPr>
            <p:cNvSpPr/>
            <p:nvPr/>
          </p:nvSpPr>
          <p:spPr bwMode="auto">
            <a:xfrm flipH="1">
              <a:off x="5233963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2784EFCE-5525-7D5D-281F-842F94889E71}"/>
                </a:ext>
              </a:extLst>
            </p:cNvPr>
            <p:cNvSpPr/>
            <p:nvPr/>
          </p:nvSpPr>
          <p:spPr bwMode="auto">
            <a:xfrm rot="16200000" flipH="1">
              <a:off x="6475494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24B3F650-E20A-12E2-4502-EC53D0B7B2B4}"/>
                </a:ext>
              </a:extLst>
            </p:cNvPr>
            <p:cNvSpPr/>
            <p:nvPr/>
          </p:nvSpPr>
          <p:spPr bwMode="auto">
            <a:xfrm rot="16200000" flipH="1">
              <a:off x="1585552" y="3346849"/>
              <a:ext cx="1211965" cy="704133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 from GIT</a:t>
              </a:r>
            </a:p>
          </p:txBody>
        </p:sp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0B5FE57C-89CF-FD8D-63AD-235BD89BCBF4}"/>
                </a:ext>
              </a:extLst>
            </p:cNvPr>
            <p:cNvSpPr/>
            <p:nvPr/>
          </p:nvSpPr>
          <p:spPr bwMode="auto">
            <a:xfrm rot="16200000" flipH="1">
              <a:off x="3993377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1184122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EF8D5D-9171-B04B-366B-4FBDCAB0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from GIT to Workspace Workflow with 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1A40B-825D-375F-2312-A4493BD67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1078992"/>
            <a:ext cx="3006649" cy="5193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09B84-25CC-1BE2-82D2-EF5E3D79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672" y="1088627"/>
            <a:ext cx="5330789" cy="5193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43F3F8-4931-5BAD-A277-3FD9DB7EF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5287" y="1078992"/>
            <a:ext cx="3082143" cy="519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0197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F358-7F62-6168-75C6-1C93B7E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with fabric-cicd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9F88-1D7D-E887-163C-F8C7FB02B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Parameterization allows updates to item definition files on the fly</a:t>
            </a:r>
          </a:p>
          <a:p>
            <a:pPr lvl="1"/>
            <a:r>
              <a:rPr lang="en-US" dirty="0"/>
              <a:t>Parameterization required to deal with environment-specific settings committed to GIT</a:t>
            </a:r>
          </a:p>
          <a:p>
            <a:pPr lvl="1"/>
            <a:r>
              <a:rPr lang="en-US" dirty="0"/>
              <a:t>Parameterization enabled by adding </a:t>
            </a:r>
            <a:r>
              <a:rPr lang="en-US" sz="1600" b="1" dirty="0" err="1">
                <a:solidFill>
                  <a:srgbClr val="8A0000"/>
                </a:solidFill>
              </a:rPr>
              <a:t>parameter.yml</a:t>
            </a:r>
            <a:r>
              <a:rPr lang="en-US" b="1" dirty="0"/>
              <a:t> </a:t>
            </a:r>
            <a:r>
              <a:rPr lang="en-US" dirty="0"/>
              <a:t>file to root folder</a:t>
            </a:r>
          </a:p>
          <a:p>
            <a:pPr lvl="1"/>
            <a:r>
              <a:rPr lang="en-US" dirty="0"/>
              <a:t>Parameterization used to update item definition files using substitution patterns (e.g. find-replace)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B4D5A-1466-BFF3-5736-5BD6AE45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303858"/>
            <a:ext cx="8183880" cy="2500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093C6D-241C-ADF8-E79D-9A7600E9D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898340"/>
            <a:ext cx="8984653" cy="1203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9791408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D7BB-7528-4F8A-CA5E-3C39A4ED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43198"/>
          </a:xfrm>
        </p:spPr>
        <p:txBody>
          <a:bodyPr/>
          <a:lstStyle/>
          <a:p>
            <a:r>
              <a:rPr lang="en-US" sz="3200" dirty="0"/>
              <a:t>Advanced Parameterization with </a:t>
            </a:r>
            <a:r>
              <a:rPr lang="en-US" sz="3200" dirty="0" err="1"/>
              <a:t>RegEx</a:t>
            </a:r>
            <a:r>
              <a:rPr lang="en-US" sz="3200" dirty="0"/>
              <a:t> and Dynamic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18E09-DD34-FBB6-F77B-50ADF491B2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08653"/>
          </a:xfrm>
        </p:spPr>
        <p:txBody>
          <a:bodyPr/>
          <a:lstStyle/>
          <a:p>
            <a:r>
              <a:rPr lang="en-US" dirty="0"/>
              <a:t>The problem is that you need to update the default lakehouse id and the workspace id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solution is based on regex expressions and dynamic variables (</a:t>
            </a:r>
            <a:r>
              <a:rPr lang="en-US" sz="2000" b="1" dirty="0">
                <a:solidFill>
                  <a:srgbClr val="8A0000"/>
                </a:solidFill>
              </a:rPr>
              <a:t>$</a:t>
            </a:r>
            <a:r>
              <a:rPr lang="en-US" sz="2000" b="1" dirty="0" err="1">
                <a:solidFill>
                  <a:srgbClr val="8A0000"/>
                </a:solidFill>
              </a:rPr>
              <a:t>workspace.$id</a:t>
            </a:r>
            <a:r>
              <a:rPr lang="en-US" dirty="0"/>
              <a:t>)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0D18E-0C95-E51F-EB45-E13B3079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920"/>
          <a:stretch>
            <a:fillRect/>
          </a:stretch>
        </p:blipFill>
        <p:spPr>
          <a:xfrm>
            <a:off x="936749" y="4833451"/>
            <a:ext cx="8312683" cy="205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8EAF5-397E-8B26-8420-1F3C1A8B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49" y="1748439"/>
            <a:ext cx="5532368" cy="2412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44286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F520-0A2F-FD69-1084-98DF16E1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Semantic Model to Lakehouse SQL Endpoint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8E719-5CC5-C703-000A-87F77A0565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431983"/>
          </a:xfrm>
        </p:spPr>
        <p:txBody>
          <a:bodyPr/>
          <a:lstStyle/>
          <a:p>
            <a:r>
              <a:rPr lang="en-US" dirty="0"/>
              <a:t>Dealing with semantic models which connect to SQL endpoint of a lakehouse</a:t>
            </a:r>
          </a:p>
          <a:p>
            <a:pPr lvl="1"/>
            <a:r>
              <a:rPr lang="en-US" dirty="0"/>
              <a:t>Semantic model has M code which calls </a:t>
            </a:r>
            <a:r>
              <a:rPr lang="en-US" sz="1800" b="1" dirty="0" err="1">
                <a:solidFill>
                  <a:srgbClr val="8A0000"/>
                </a:solidFill>
              </a:rPr>
              <a:t>Sql.Database</a:t>
            </a:r>
            <a:r>
              <a:rPr lang="en-US" dirty="0"/>
              <a:t> function</a:t>
            </a:r>
          </a:p>
          <a:p>
            <a:pPr lvl="1"/>
            <a:r>
              <a:rPr lang="en-US" dirty="0"/>
              <a:t>First parameter references location path of SQL endpoint server</a:t>
            </a:r>
          </a:p>
          <a:p>
            <a:pPr lvl="1"/>
            <a:r>
              <a:rPr lang="en-US" dirty="0"/>
              <a:t>Second parameter references lakehouse - </a:t>
            </a:r>
            <a:r>
              <a:rPr lang="en-US" sz="1600" b="1" dirty="0">
                <a:solidFill>
                  <a:srgbClr val="8A0000"/>
                </a:solidFill>
              </a:rPr>
              <a:t>[TIP]</a:t>
            </a:r>
            <a:r>
              <a:rPr lang="en-US" dirty="0"/>
              <a:t> use lakehouse name instead of GUID-based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lvl="1"/>
            <a:r>
              <a:rPr lang="en-US" dirty="0" err="1"/>
              <a:t>RegEx</a:t>
            </a:r>
            <a:r>
              <a:rPr lang="en-US" dirty="0"/>
              <a:t> expression targets first parameter for replacement - it leaves second parameter as is</a:t>
            </a:r>
          </a:p>
          <a:p>
            <a:pPr lvl="1"/>
            <a:r>
              <a:rPr lang="en-US" dirty="0"/>
              <a:t>Use dynamic variable </a:t>
            </a:r>
            <a:r>
              <a:rPr lang="en-US" sz="1800" b="1" dirty="0">
                <a:solidFill>
                  <a:srgbClr val="8A0000"/>
                </a:solidFill>
              </a:rPr>
              <a:t>$item.Lakehouse.sales.$</a:t>
            </a:r>
            <a:r>
              <a:rPr lang="en-US" sz="1800" b="1" dirty="0" err="1">
                <a:solidFill>
                  <a:srgbClr val="8A0000"/>
                </a:solidFill>
              </a:rPr>
              <a:t>sqlendpoint</a:t>
            </a:r>
            <a:r>
              <a:rPr lang="en-US" dirty="0"/>
              <a:t> for replacement value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7F11D-61CE-2454-5F33-FC552F6A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85" y="2851530"/>
            <a:ext cx="5939715" cy="1545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D2BD0-0286-5BF5-2ED3-90FC4C047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18" r="24529"/>
          <a:stretch>
            <a:fillRect/>
          </a:stretch>
        </p:blipFill>
        <p:spPr>
          <a:xfrm>
            <a:off x="1156029" y="5418548"/>
            <a:ext cx="7506565" cy="1412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1944337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9087-BBDC-1B64-12FE-0FBF4501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A949-0FA7-FA90-C5B4-70482F86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84748"/>
          </a:xfrm>
        </p:spPr>
        <p:txBody>
          <a:bodyPr/>
          <a:lstStyle/>
          <a:p>
            <a:r>
              <a:rPr lang="en-US" sz="3500" dirty="0"/>
              <a:t>Option 4: Release Process using fabric-cicd and release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C6515-A364-3DE3-2CD6-3D9D59336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677656"/>
          </a:xfrm>
        </p:spPr>
        <p:txBody>
          <a:bodyPr/>
          <a:lstStyle/>
          <a:p>
            <a:r>
              <a:rPr lang="en-US" dirty="0"/>
              <a:t>Option 4 is built on trunk-based development approach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serves as integration branch with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using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endParaRPr lang="en-US" dirty="0"/>
          </a:p>
          <a:p>
            <a:pPr lvl="1"/>
            <a:r>
              <a:rPr lang="en-US" dirty="0"/>
              <a:t>Release process does not include log-lived branches for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Release process involves creating new test branch for each release</a:t>
            </a:r>
          </a:p>
          <a:p>
            <a:pPr lvl="1"/>
            <a:r>
              <a:rPr lang="en-US" dirty="0"/>
              <a:t>Upon creation,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deployed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Once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approved,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branch created from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and deployed with </a:t>
            </a:r>
            <a:r>
              <a:rPr lang="en-US" sz="1600" b="1" dirty="0">
                <a:solidFill>
                  <a:srgbClr val="8A0000"/>
                </a:solidFill>
              </a:rPr>
              <a:t>fabric-cicd</a:t>
            </a:r>
          </a:p>
          <a:p>
            <a:pPr lvl="1"/>
            <a:r>
              <a:rPr lang="en-US" dirty="0"/>
              <a:t>Creating of </a:t>
            </a:r>
            <a:r>
              <a:rPr lang="en-US" sz="1800" b="1" dirty="0">
                <a:solidFill>
                  <a:srgbClr val="8A0000"/>
                </a:solidFill>
              </a:rPr>
              <a:t>test 1.x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 1.x</a:t>
            </a:r>
            <a:r>
              <a:rPr lang="en-US" dirty="0"/>
              <a:t> branches creates valuable release history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31E923-C926-9B90-8502-CB2EFDF3C77E}"/>
              </a:ext>
            </a:extLst>
          </p:cNvPr>
          <p:cNvGrpSpPr/>
          <p:nvPr/>
        </p:nvGrpSpPr>
        <p:grpSpPr>
          <a:xfrm>
            <a:off x="1206218" y="4093498"/>
            <a:ext cx="5473171" cy="2677656"/>
            <a:chOff x="1156572" y="3015722"/>
            <a:chExt cx="6428373" cy="3379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94FA96-CC2D-D6E2-6068-268695BCD2E4}"/>
                </a:ext>
              </a:extLst>
            </p:cNvPr>
            <p:cNvSpPr/>
            <p:nvPr/>
          </p:nvSpPr>
          <p:spPr bwMode="auto">
            <a:xfrm>
              <a:off x="1156572" y="3015722"/>
              <a:ext cx="6428373" cy="33797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66B62B-B261-8650-9385-F5C632A47B13}"/>
                </a:ext>
              </a:extLst>
            </p:cNvPr>
            <p:cNvSpPr/>
            <p:nvPr/>
          </p:nvSpPr>
          <p:spPr bwMode="auto">
            <a:xfrm>
              <a:off x="1392896" y="52333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97501C-F781-D58E-73B1-61504F5C2655}"/>
                </a:ext>
              </a:extLst>
            </p:cNvPr>
            <p:cNvSpPr/>
            <p:nvPr/>
          </p:nvSpPr>
          <p:spPr bwMode="auto">
            <a:xfrm>
              <a:off x="1392896" y="3255757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163DD5-4839-3509-44E2-D912C48AC893}"/>
                </a:ext>
              </a:extLst>
            </p:cNvPr>
            <p:cNvSpPr/>
            <p:nvPr/>
          </p:nvSpPr>
          <p:spPr bwMode="auto">
            <a:xfrm>
              <a:off x="3820082" y="52333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1.x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356791-D454-736F-F678-08EAF9D6C5C9}"/>
                </a:ext>
              </a:extLst>
            </p:cNvPr>
            <p:cNvSpPr/>
            <p:nvPr/>
          </p:nvSpPr>
          <p:spPr bwMode="auto">
            <a:xfrm>
              <a:off x="3820082" y="3255757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B99D3-18E1-F956-48F8-74E85D16C179}"/>
                </a:ext>
              </a:extLst>
            </p:cNvPr>
            <p:cNvSpPr/>
            <p:nvPr/>
          </p:nvSpPr>
          <p:spPr bwMode="auto">
            <a:xfrm>
              <a:off x="6300067" y="52333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1.x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  <a:endParaRPr lang="en-US" sz="1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2F39EA-AD52-F49D-4458-9A1859A58660}"/>
                </a:ext>
              </a:extLst>
            </p:cNvPr>
            <p:cNvSpPr/>
            <p:nvPr/>
          </p:nvSpPr>
          <p:spPr bwMode="auto">
            <a:xfrm>
              <a:off x="6300067" y="3255757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1" name="Arrow: Left 10">
              <a:extLst>
                <a:ext uri="{FF2B5EF4-FFF2-40B4-BE49-F238E27FC236}">
                  <a16:creationId xmlns:a16="http://schemas.microsoft.com/office/drawing/2014/main" id="{3FFE83F9-3327-A5D3-A710-3F49121C2AEB}"/>
                </a:ext>
              </a:extLst>
            </p:cNvPr>
            <p:cNvSpPr/>
            <p:nvPr/>
          </p:nvSpPr>
          <p:spPr bwMode="auto">
            <a:xfrm flipH="1">
              <a:off x="2573616" y="53756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Request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13317754-E089-1B4E-3DE8-D0AACC65A677}"/>
                </a:ext>
              </a:extLst>
            </p:cNvPr>
            <p:cNvSpPr/>
            <p:nvPr/>
          </p:nvSpPr>
          <p:spPr bwMode="auto">
            <a:xfrm flipH="1">
              <a:off x="5005363" y="53756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Branch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10C01F17-7F0C-B998-ACAB-9938D593C134}"/>
                </a:ext>
              </a:extLst>
            </p:cNvPr>
            <p:cNvSpPr/>
            <p:nvPr/>
          </p:nvSpPr>
          <p:spPr bwMode="auto">
            <a:xfrm rot="16200000" flipH="1">
              <a:off x="6246894" y="42477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6845E998-6C40-8A7F-BF3C-6FA57E64464B}"/>
                </a:ext>
              </a:extLst>
            </p:cNvPr>
            <p:cNvSpPr/>
            <p:nvPr/>
          </p:nvSpPr>
          <p:spPr bwMode="auto">
            <a:xfrm rot="16200000" flipH="1">
              <a:off x="1356952" y="4261249"/>
              <a:ext cx="1211965" cy="704133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 from GIT</a:t>
              </a:r>
            </a:p>
          </p:txBody>
        </p:sp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0E7029C8-720E-F9EF-B891-DD01352BA478}"/>
                </a:ext>
              </a:extLst>
            </p:cNvPr>
            <p:cNvSpPr/>
            <p:nvPr/>
          </p:nvSpPr>
          <p:spPr bwMode="auto">
            <a:xfrm rot="16200000" flipH="1">
              <a:off x="3764777" y="42477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EB51B0-C33E-08D8-3801-FF30D2F28684}"/>
              </a:ext>
            </a:extLst>
          </p:cNvPr>
          <p:cNvGrpSpPr/>
          <p:nvPr/>
        </p:nvGrpSpPr>
        <p:grpSpPr>
          <a:xfrm>
            <a:off x="7069866" y="4056994"/>
            <a:ext cx="2165155" cy="2137274"/>
            <a:chOff x="8290053" y="3759684"/>
            <a:chExt cx="2786437" cy="255088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2051F8E-0020-7673-7365-496224A0EC29}"/>
                </a:ext>
              </a:extLst>
            </p:cNvPr>
            <p:cNvSpPr/>
            <p:nvPr/>
          </p:nvSpPr>
          <p:spPr bwMode="auto">
            <a:xfrm>
              <a:off x="8290053" y="3759684"/>
              <a:ext cx="2786437" cy="2550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History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1C47D01-D478-9F24-08B9-4E62345AF5AB}"/>
                </a:ext>
              </a:extLst>
            </p:cNvPr>
            <p:cNvGrpSpPr/>
            <p:nvPr/>
          </p:nvGrpSpPr>
          <p:grpSpPr>
            <a:xfrm>
              <a:off x="8519695" y="4110349"/>
              <a:ext cx="2329867" cy="2064828"/>
              <a:chOff x="8655535" y="4072565"/>
              <a:chExt cx="2329867" cy="269993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54EED4F-F7C7-4680-23F9-A9EA1E995455}"/>
                  </a:ext>
                </a:extLst>
              </p:cNvPr>
              <p:cNvSpPr/>
              <p:nvPr/>
            </p:nvSpPr>
            <p:spPr bwMode="auto">
              <a:xfrm>
                <a:off x="8655535" y="4072566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9F28DC-66D2-11E3-B28F-BAAA18F578C6}"/>
                  </a:ext>
                </a:extLst>
              </p:cNvPr>
              <p:cNvSpPr/>
              <p:nvPr/>
            </p:nvSpPr>
            <p:spPr bwMode="auto">
              <a:xfrm>
                <a:off x="9915867" y="4072565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1.0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EEF8D8-A4E9-E829-4ADD-A6A5133A7E8B}"/>
                  </a:ext>
                </a:extLst>
              </p:cNvPr>
              <p:cNvSpPr/>
              <p:nvPr/>
            </p:nvSpPr>
            <p:spPr bwMode="auto">
              <a:xfrm>
                <a:off x="8655535" y="4640245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CA556B6-10C4-CE24-D237-A6C9C78976C7}"/>
                  </a:ext>
                </a:extLst>
              </p:cNvPr>
              <p:cNvSpPr/>
              <p:nvPr/>
            </p:nvSpPr>
            <p:spPr bwMode="auto">
              <a:xfrm>
                <a:off x="9915867" y="4640244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1.1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99650CB-6E04-5060-CE33-851570AB4FD7}"/>
                  </a:ext>
                </a:extLst>
              </p:cNvPr>
              <p:cNvSpPr/>
              <p:nvPr/>
            </p:nvSpPr>
            <p:spPr bwMode="auto">
              <a:xfrm>
                <a:off x="8655535" y="5207924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FFF357-76CE-DFC2-EEF6-D11C8CA4DA2C}"/>
                  </a:ext>
                </a:extLst>
              </p:cNvPr>
              <p:cNvSpPr/>
              <p:nvPr/>
            </p:nvSpPr>
            <p:spPr bwMode="auto">
              <a:xfrm>
                <a:off x="8655535" y="5775603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1.3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1A27591-ABB4-EF1C-9DE0-E4971E2E3B70}"/>
                  </a:ext>
                </a:extLst>
              </p:cNvPr>
              <p:cNvSpPr/>
              <p:nvPr/>
            </p:nvSpPr>
            <p:spPr bwMode="auto">
              <a:xfrm>
                <a:off x="9915867" y="5775602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1.3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54192BC-FEDE-656C-AA6D-66C35609EC25}"/>
                  </a:ext>
                </a:extLst>
              </p:cNvPr>
              <p:cNvSpPr/>
              <p:nvPr/>
            </p:nvSpPr>
            <p:spPr bwMode="auto">
              <a:xfrm>
                <a:off x="8655535" y="6305705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2.0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9D396CA-ED53-1159-0C67-DF66900E1932}"/>
                  </a:ext>
                </a:extLst>
              </p:cNvPr>
              <p:cNvSpPr/>
              <p:nvPr/>
            </p:nvSpPr>
            <p:spPr bwMode="auto">
              <a:xfrm>
                <a:off x="9915867" y="6305704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2.0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833103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F215-FECD-31E4-2DE0-8C5FD42F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 in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408BE-70E3-C46E-5AE5-291FA2A4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93829"/>
            <a:ext cx="8670570" cy="5425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5531820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6172-CB9F-77D5-25A1-FE9C7009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Repository Samples at Fabric-CICD-Workflows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E394B-D40D-2489-B750-3A74115E62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https://github.com/orgs/Fabric-CICD-Workflows/repositories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CD5A6-BEF8-EBF6-4A84-8B5D8BDD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63" y="1865376"/>
            <a:ext cx="3907749" cy="49425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EFEFF-55A5-AEE4-E74C-4BEC5055C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923"/>
          <a:stretch>
            <a:fillRect/>
          </a:stretch>
        </p:blipFill>
        <p:spPr>
          <a:xfrm>
            <a:off x="5269919" y="1865376"/>
            <a:ext cx="4356221" cy="49386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410414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2D68F-CBCF-6E7A-7599-08021169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DA52-6F4D-5423-EA42-A0A074A4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73234-763A-A401-34D3-57421EDCCB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564805"/>
          </a:xfrm>
        </p:spPr>
        <p:txBody>
          <a:bodyPr/>
          <a:lstStyle/>
          <a:p>
            <a:r>
              <a:rPr lang="en-US" dirty="0"/>
              <a:t>Essential Concepts and Capabilities</a:t>
            </a:r>
          </a:p>
          <a:p>
            <a:r>
              <a:rPr lang="en-US" dirty="0"/>
              <a:t>Planning the Fabric CI/CD Project Lifecycle</a:t>
            </a:r>
          </a:p>
          <a:p>
            <a:r>
              <a:rPr lang="en-US" dirty="0"/>
              <a:t>Creating Project Infrastructure using Terraform</a:t>
            </a:r>
          </a:p>
          <a:p>
            <a:r>
              <a:rPr lang="en-US" dirty="0"/>
              <a:t>Building a Development Process</a:t>
            </a:r>
          </a:p>
          <a:p>
            <a:r>
              <a:rPr lang="en-US" dirty="0"/>
              <a:t>Building a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292986262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91f22b01-9196-48cc-8d58-ee179122dd75"/>
    <ds:schemaRef ds:uri="http://purl.org/dc/elements/1.1/"/>
    <ds:schemaRef ds:uri="http://schemas.openxmlformats.org/package/2006/metadata/core-properties"/>
    <ds:schemaRef ds:uri="3c10a0e8-556e-4c2d-9121-1181542ea83c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19686</TotalTime>
  <Words>3904</Words>
  <Application>Microsoft Office PowerPoint</Application>
  <PresentationFormat>Custom</PresentationFormat>
  <Paragraphs>736</Paragraphs>
  <Slides>64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Introduction to Fabric CI/CD</vt:lpstr>
      <vt:lpstr>Session Agenda </vt:lpstr>
      <vt:lpstr>Motivation for CI/CD</vt:lpstr>
      <vt:lpstr>Example Fabric Solution - Product Sales</vt:lpstr>
      <vt:lpstr>Fabric GIT Integration</vt:lpstr>
      <vt:lpstr>GIT Source Control Connections</vt:lpstr>
      <vt:lpstr>Serialization of Workspace Items to/from Item Definitions</vt:lpstr>
      <vt:lpstr>Automation in Fabric</vt:lpstr>
      <vt:lpstr>Planning the Fabric CI/CD Project Lifecycle</vt:lpstr>
      <vt:lpstr>Planning the Fabric CI/CD Project Lifecycles</vt:lpstr>
      <vt:lpstr>Plan the Fabric Solution</vt:lpstr>
      <vt:lpstr>Plan the Project Environments </vt:lpstr>
      <vt:lpstr>Plan the GIT repository</vt:lpstr>
      <vt:lpstr>Plan the Development Process for Continuous Integration</vt:lpstr>
      <vt:lpstr>Plan the Release Process for Continuous Deployment</vt:lpstr>
      <vt:lpstr>Creating Project Infrastructure using Terraform</vt:lpstr>
      <vt:lpstr>Using Terraform to Create Project Infrastructure</vt:lpstr>
      <vt:lpstr>Terraform Demo Files in GitHub</vt:lpstr>
      <vt:lpstr>Terraform Providers</vt:lpstr>
      <vt:lpstr>Terraform State File</vt:lpstr>
      <vt:lpstr>Terraform Configuration Project Files</vt:lpstr>
      <vt:lpstr>Authenticating as a Service Principal</vt:lpstr>
      <vt:lpstr>Creating a Fabric Workspace</vt:lpstr>
      <vt:lpstr>Create a Fabric Capacity</vt:lpstr>
      <vt:lpstr>Creating an Azure Storage Account</vt:lpstr>
      <vt:lpstr>Creating ADLS Gen2 Connections</vt:lpstr>
      <vt:lpstr>Managing Connections in Fabric</vt:lpstr>
      <vt:lpstr>Cleanup of Workspace-specific Connection</vt:lpstr>
      <vt:lpstr>Building a Development Process</vt:lpstr>
      <vt:lpstr>Build the Development Process for Continuous Integration</vt:lpstr>
      <vt:lpstr>Creating a Variable Library for Parameterization</vt:lpstr>
      <vt:lpstr>Using variables in a notebook</vt:lpstr>
      <vt:lpstr>Using variables in a ADLS Gen2 shortcut</vt:lpstr>
      <vt:lpstr>Create a GIT Repository</vt:lpstr>
      <vt:lpstr>Configure GIT Repository with Secrets and Variables</vt:lpstr>
      <vt:lpstr>Extend the GIT Repository with Workflows</vt:lpstr>
      <vt:lpstr>Connect the dev workspace to integration branch</vt:lpstr>
      <vt:lpstr>Create a GIT Source Control Connection</vt:lpstr>
      <vt:lpstr>Creating GIT Source Control Connections using APIs</vt:lpstr>
      <vt:lpstr>Connecting a Workspace to GIT Branch using APIs</vt:lpstr>
      <vt:lpstr>Flows for Feature Branches and Feature Workspaces</vt:lpstr>
      <vt:lpstr>Creating Feature Workspace by Hand</vt:lpstr>
      <vt:lpstr>Auto-bind behavior</vt:lpstr>
      <vt:lpstr>Running Jobs After Update-from-GIT Operations</vt:lpstr>
      <vt:lpstr>Post-deploy Jobs versus Post-sync Jobs</vt:lpstr>
      <vt:lpstr>Creating Feature Workspace using APIs</vt:lpstr>
      <vt:lpstr>Edit in Workspace versus Edit Locally using Client Tools</vt:lpstr>
      <vt:lpstr>Adding Workflow To Keep the dev Workspace in Sync</vt:lpstr>
      <vt:lpstr>Building a Release Process</vt:lpstr>
      <vt:lpstr>Building th Release Process for Continuous Intergation</vt:lpstr>
      <vt:lpstr>Option 1: Release Process using Deployment Pipelines</vt:lpstr>
      <vt:lpstr>Option 2: Release Process using GIT Sync</vt:lpstr>
      <vt:lpstr>The fabric-cicd Python Library</vt:lpstr>
      <vt:lpstr>Configuration-based Deployment</vt:lpstr>
      <vt:lpstr>Option 3: Release Process using fabric-cicd and GitFlow</vt:lpstr>
      <vt:lpstr>Option 3: Release Process using fabric-cicd and GitFlow</vt:lpstr>
      <vt:lpstr>Deploy from GIT to Workspace Workflow with ADO</vt:lpstr>
      <vt:lpstr>Parameterization with fabric-cicd</vt:lpstr>
      <vt:lpstr>Advanced Parameterization with RegEx and Dynamic Variables</vt:lpstr>
      <vt:lpstr>Connecting Semantic Model to Lakehouse SQL Endpoint</vt:lpstr>
      <vt:lpstr>Option 4: Release Process using fabric-cicd and release flow</vt:lpstr>
      <vt:lpstr>Workflows in Action</vt:lpstr>
      <vt:lpstr>GIT Repository Samples at Fabric-CICD-Workflows</vt:lpstr>
      <vt:lpstr>Session Summary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87</cp:revision>
  <cp:lastPrinted>2026-03-17T00:34:14Z</cp:lastPrinted>
  <dcterms:created xsi:type="dcterms:W3CDTF">2018-09-21T01:16:59Z</dcterms:created>
  <dcterms:modified xsi:type="dcterms:W3CDTF">2026-03-26T23:14:33Z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